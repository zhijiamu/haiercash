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554" r:id="rId3"/>
    <p:sldId id="578" r:id="rId5"/>
    <p:sldId id="582" r:id="rId6"/>
    <p:sldId id="583" r:id="rId7"/>
    <p:sldId id="580" r:id="rId8"/>
    <p:sldId id="581" r:id="rId9"/>
    <p:sldId id="586" r:id="rId10"/>
    <p:sldId id="587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  <p:cmAuthor id="2" name="HEXJ-dgw" initials="H" lastIdx="1" clrIdx="1"/>
  <p:cmAuthor id="3" name="dong" initials="d" lastIdx="1" clrIdx="2"/>
  <p:cmAuthor id="4" name="L14-53" initials="L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5B9BD5"/>
    <a:srgbClr val="ED7D31"/>
    <a:srgbClr val="FFFFFF"/>
    <a:srgbClr val="0070C0"/>
    <a:srgbClr val="B4C7E7"/>
    <a:srgbClr val="8FAADC"/>
    <a:srgbClr val="B8D5F3"/>
    <a:srgbClr val="BDD7EE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3826" autoAdjust="0"/>
  </p:normalViewPr>
  <p:slideViewPr>
    <p:cSldViewPr snapToGrid="0" showGuides="1">
      <p:cViewPr varScale="1">
        <p:scale>
          <a:sx n="63" d="100"/>
          <a:sy n="63" d="100"/>
        </p:scale>
        <p:origin x="952" y="48"/>
      </p:cViewPr>
      <p:guideLst>
        <p:guide orient="horz" pos="1622"/>
        <p:guide pos="3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16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2"/>
          <a:srcRect r="43815"/>
          <a:stretch>
            <a:fillRect/>
          </a:stretch>
        </p:blipFill>
        <p:spPr>
          <a:xfrm>
            <a:off x="9647303" y="51670"/>
            <a:ext cx="2256284" cy="8457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108721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push dir="u"/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5E495-7A0A-4F1E-A0A9-EAD547EC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CEA23-A6B6-4C61-8FD5-CA4DF99ED0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6" Type="http://schemas.openxmlformats.org/officeDocument/2006/relationships/notesSlide" Target="../notesSlides/notesSlide1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image" Target="../media/image1.png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4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image" Target="../media/image4.png"/><Relationship Id="rId7" Type="http://schemas.openxmlformats.org/officeDocument/2006/relationships/tags" Target="../tags/tag57.xml"/><Relationship Id="rId6" Type="http://schemas.openxmlformats.org/officeDocument/2006/relationships/image" Target="../media/image3.png"/><Relationship Id="rId5" Type="http://schemas.openxmlformats.org/officeDocument/2006/relationships/tags" Target="../tags/tag56.xml"/><Relationship Id="rId4" Type="http://schemas.openxmlformats.org/officeDocument/2006/relationships/image" Target="../media/image2.png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png"/><Relationship Id="rId11" Type="http://schemas.openxmlformats.org/officeDocument/2006/relationships/tags" Target="../tags/tag59.xml"/><Relationship Id="rId10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4" Type="http://schemas.openxmlformats.org/officeDocument/2006/relationships/notesSlide" Target="../notesSlides/notesSlide5.x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110.xml"/><Relationship Id="rId51" Type="http://schemas.openxmlformats.org/officeDocument/2006/relationships/tags" Target="../tags/tag109.xml"/><Relationship Id="rId50" Type="http://schemas.openxmlformats.org/officeDocument/2006/relationships/tags" Target="../tags/tag108.xml"/><Relationship Id="rId5" Type="http://schemas.openxmlformats.org/officeDocument/2006/relationships/image" Target="../media/image1.png"/><Relationship Id="rId49" Type="http://schemas.openxmlformats.org/officeDocument/2006/relationships/tags" Target="../tags/tag107.xml"/><Relationship Id="rId48" Type="http://schemas.openxmlformats.org/officeDocument/2006/relationships/tags" Target="../tags/tag106.xml"/><Relationship Id="rId47" Type="http://schemas.openxmlformats.org/officeDocument/2006/relationships/tags" Target="../tags/tag105.xml"/><Relationship Id="rId46" Type="http://schemas.openxmlformats.org/officeDocument/2006/relationships/tags" Target="../tags/tag104.xml"/><Relationship Id="rId45" Type="http://schemas.openxmlformats.org/officeDocument/2006/relationships/tags" Target="../tags/tag103.xml"/><Relationship Id="rId44" Type="http://schemas.openxmlformats.org/officeDocument/2006/relationships/tags" Target="../tags/tag102.xml"/><Relationship Id="rId43" Type="http://schemas.openxmlformats.org/officeDocument/2006/relationships/tags" Target="../tags/tag101.xml"/><Relationship Id="rId42" Type="http://schemas.openxmlformats.org/officeDocument/2006/relationships/tags" Target="../tags/tag100.xml"/><Relationship Id="rId41" Type="http://schemas.openxmlformats.org/officeDocument/2006/relationships/tags" Target="../tags/tag99.xml"/><Relationship Id="rId40" Type="http://schemas.openxmlformats.org/officeDocument/2006/relationships/tags" Target="../tags/tag98.xml"/><Relationship Id="rId4" Type="http://schemas.openxmlformats.org/officeDocument/2006/relationships/tags" Target="../tags/tag63.xml"/><Relationship Id="rId39" Type="http://schemas.openxmlformats.org/officeDocument/2006/relationships/tags" Target="../tags/tag97.xml"/><Relationship Id="rId38" Type="http://schemas.openxmlformats.org/officeDocument/2006/relationships/tags" Target="../tags/tag96.xml"/><Relationship Id="rId37" Type="http://schemas.openxmlformats.org/officeDocument/2006/relationships/tags" Target="../tags/tag95.xml"/><Relationship Id="rId36" Type="http://schemas.openxmlformats.org/officeDocument/2006/relationships/tags" Target="../tags/tag94.xml"/><Relationship Id="rId35" Type="http://schemas.openxmlformats.org/officeDocument/2006/relationships/tags" Target="../tags/tag93.xml"/><Relationship Id="rId34" Type="http://schemas.openxmlformats.org/officeDocument/2006/relationships/tags" Target="../tags/tag92.xml"/><Relationship Id="rId33" Type="http://schemas.openxmlformats.org/officeDocument/2006/relationships/tags" Target="../tags/tag91.xml"/><Relationship Id="rId32" Type="http://schemas.openxmlformats.org/officeDocument/2006/relationships/tags" Target="../tags/tag90.xml"/><Relationship Id="rId31" Type="http://schemas.openxmlformats.org/officeDocument/2006/relationships/tags" Target="../tags/tag89.xml"/><Relationship Id="rId30" Type="http://schemas.openxmlformats.org/officeDocument/2006/relationships/tags" Target="../tags/tag88.xml"/><Relationship Id="rId3" Type="http://schemas.openxmlformats.org/officeDocument/2006/relationships/tags" Target="../tags/tag62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1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>
            <p:custDataLst>
              <p:tags r:id="rId1"/>
            </p:custDataLst>
          </p:nvPr>
        </p:nvSpPr>
        <p:spPr>
          <a:xfrm>
            <a:off x="6701155" y="2652395"/>
            <a:ext cx="2019300" cy="1951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60" name="矩形 59"/>
          <p:cNvSpPr/>
          <p:nvPr>
            <p:custDataLst>
              <p:tags r:id="rId2"/>
            </p:custDataLst>
          </p:nvPr>
        </p:nvSpPr>
        <p:spPr>
          <a:xfrm>
            <a:off x="540385" y="6245860"/>
            <a:ext cx="5907405" cy="5200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65" name="矩形 64"/>
          <p:cNvSpPr/>
          <p:nvPr>
            <p:custDataLst>
              <p:tags r:id="rId3"/>
            </p:custDataLst>
          </p:nvPr>
        </p:nvSpPr>
        <p:spPr>
          <a:xfrm>
            <a:off x="367030" y="819785"/>
            <a:ext cx="6205855" cy="3783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4787265" y="2736215"/>
            <a:ext cx="1403350" cy="1467485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4" name="矩形 33"/>
          <p:cNvSpPr/>
          <p:nvPr/>
        </p:nvSpPr>
        <p:spPr>
          <a:xfrm>
            <a:off x="773430" y="1223010"/>
            <a:ext cx="2392045" cy="7835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9435913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电销相关系统现状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5"/>
          <a:srcRect r="43815"/>
          <a:stretch>
            <a:fillRect/>
          </a:stretch>
        </p:blipFill>
        <p:spPr>
          <a:xfrm>
            <a:off x="10221595" y="-10160"/>
            <a:ext cx="1779270" cy="667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" name="矩形 61"/>
          <p:cNvSpPr/>
          <p:nvPr/>
        </p:nvSpPr>
        <p:spPr>
          <a:xfrm>
            <a:off x="629920" y="2619375"/>
            <a:ext cx="3667125" cy="664845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0" name="矩形 69"/>
          <p:cNvSpPr/>
          <p:nvPr/>
        </p:nvSpPr>
        <p:spPr>
          <a:xfrm>
            <a:off x="539750" y="2502535"/>
            <a:ext cx="5907405" cy="20224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3" name="矩形 72"/>
          <p:cNvSpPr/>
          <p:nvPr/>
        </p:nvSpPr>
        <p:spPr>
          <a:xfrm>
            <a:off x="728345" y="288671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实时决策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932305" y="2886710"/>
            <a:ext cx="99060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异步决策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976495" y="2967990"/>
            <a:ext cx="8318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圈人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65475" y="2886710"/>
            <a:ext cx="99060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802120" y="2998470"/>
            <a:ext cx="8191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查询服务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-13817" y="1051094"/>
            <a:ext cx="536575" cy="86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-93" y="2675198"/>
            <a:ext cx="536575" cy="860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-17682" y="4798183"/>
            <a:ext cx="536575" cy="86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触达层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71500" y="1164590"/>
            <a:ext cx="5876290" cy="918845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7" name="矩形 106"/>
          <p:cNvSpPr/>
          <p:nvPr/>
        </p:nvSpPr>
        <p:spPr>
          <a:xfrm>
            <a:off x="2031305" y="257649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决策引擎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2203" y="1052552"/>
            <a:ext cx="2844961" cy="1030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QA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2788" y="1413556"/>
            <a:ext cx="825319" cy="6184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圈人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686608" y="1420251"/>
            <a:ext cx="825319" cy="6184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下发结果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73430" y="156908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32305" y="156527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事件触发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9750" y="4798695"/>
            <a:ext cx="5906770" cy="118681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" name="矩形 23"/>
          <p:cNvSpPr/>
          <p:nvPr/>
        </p:nvSpPr>
        <p:spPr>
          <a:xfrm>
            <a:off x="977363" y="4918154"/>
            <a:ext cx="1522155" cy="4819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电销平台（百度）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823867" y="4918222"/>
            <a:ext cx="1522155" cy="48196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预测试外呼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49629" y="4918154"/>
            <a:ext cx="1641940" cy="4819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外呼平台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976495" y="3610610"/>
            <a:ext cx="8318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查标签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97097" y="1223173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事件中心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>
            <p:custDataLst>
              <p:tags r:id="rId6"/>
            </p:custDataLst>
          </p:nvPr>
        </p:nvSpPr>
        <p:spPr>
          <a:xfrm>
            <a:off x="6802120" y="3735070"/>
            <a:ext cx="797560" cy="4819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标签</a:t>
            </a:r>
            <a:r>
              <a:rPr lang="en-US" altLang="zh-CN" sz="1200" dirty="0">
                <a:solidFill>
                  <a:schemeClr val="bg1"/>
                </a:solidFill>
              </a:rPr>
              <a:t>ETL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5225990" y="265269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CDP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3989070" y="1223645"/>
            <a:ext cx="2201545" cy="782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068445" y="156908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5165090" y="156908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计划执行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11"/>
            </p:custDataLst>
          </p:nvPr>
        </p:nvSpPr>
        <p:spPr>
          <a:xfrm>
            <a:off x="4560692" y="1192693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计划中心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629920" y="3875405"/>
            <a:ext cx="3665855" cy="592455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4" name="矩形 43"/>
          <p:cNvSpPr/>
          <p:nvPr>
            <p:custDataLst>
              <p:tags r:id="rId13"/>
            </p:custDataLst>
          </p:nvPr>
        </p:nvSpPr>
        <p:spPr>
          <a:xfrm>
            <a:off x="7835265" y="2998470"/>
            <a:ext cx="8191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StarRocks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>
            <p:custDataLst>
              <p:tags r:id="rId14"/>
            </p:custDataLst>
          </p:nvPr>
        </p:nvSpPr>
        <p:spPr>
          <a:xfrm>
            <a:off x="977265" y="5610860"/>
            <a:ext cx="1511935" cy="347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呼叫中心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>
            <p:custDataLst>
              <p:tags r:id="rId15"/>
            </p:custDataLst>
          </p:nvPr>
        </p:nvSpPr>
        <p:spPr>
          <a:xfrm>
            <a:off x="4651375" y="6317615"/>
            <a:ext cx="1642110" cy="3676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00" dirty="0">
                <a:solidFill>
                  <a:schemeClr val="bg1"/>
                </a:solidFill>
              </a:rPr>
              <a:t>93</a:t>
            </a:r>
            <a:r>
              <a:rPr lang="zh-CN" altLang="en-US" sz="1200" dirty="0">
                <a:solidFill>
                  <a:schemeClr val="bg1"/>
                </a:solidFill>
              </a:rPr>
              <a:t>、智齿等</a:t>
            </a:r>
            <a:r>
              <a:rPr lang="en-US" altLang="zh-CN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厂商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9" name="矩形 58"/>
          <p:cNvSpPr/>
          <p:nvPr>
            <p:custDataLst>
              <p:tags r:id="rId16"/>
            </p:custDataLst>
          </p:nvPr>
        </p:nvSpPr>
        <p:spPr>
          <a:xfrm>
            <a:off x="991870" y="6317615"/>
            <a:ext cx="1642110" cy="3676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200" dirty="0">
                <a:solidFill>
                  <a:schemeClr val="bg1"/>
                </a:solidFill>
              </a:rPr>
              <a:t>线路</a:t>
            </a:r>
            <a:r>
              <a:rPr lang="zh-CN" altLang="en-US" sz="1200" dirty="0">
                <a:solidFill>
                  <a:schemeClr val="bg1"/>
                </a:solidFill>
              </a:rPr>
              <a:t>厂商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61" name="矩形 60"/>
          <p:cNvSpPr/>
          <p:nvPr>
            <p:custDataLst>
              <p:tags r:id="rId17"/>
            </p:custDataLst>
          </p:nvPr>
        </p:nvSpPr>
        <p:spPr>
          <a:xfrm>
            <a:off x="2834005" y="5617845"/>
            <a:ext cx="1511935" cy="347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VOS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>
            <p:custDataLst>
              <p:tags r:id="rId18"/>
            </p:custDataLst>
          </p:nvPr>
        </p:nvSpPr>
        <p:spPr>
          <a:xfrm>
            <a:off x="2031305" y="3767116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指令中心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>
            <p:custDataLst>
              <p:tags r:id="rId19"/>
            </p:custDataLst>
          </p:nvPr>
        </p:nvSpPr>
        <p:spPr>
          <a:xfrm>
            <a:off x="728345" y="405257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控频管理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>
            <p:custDataLst>
              <p:tags r:id="rId20"/>
            </p:custDataLst>
          </p:nvPr>
        </p:nvSpPr>
        <p:spPr>
          <a:xfrm>
            <a:off x="7186870" y="262221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大数据平台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21"/>
            </p:custDataLst>
          </p:nvPr>
        </p:nvSpPr>
        <p:spPr>
          <a:xfrm>
            <a:off x="2499360" y="753745"/>
            <a:ext cx="2646045" cy="410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用户经营平台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" name="肘形连接符 70"/>
          <p:cNvCxnSpPr>
            <a:stCxn id="13" idx="2"/>
            <a:endCxn id="74" idx="0"/>
          </p:cNvCxnSpPr>
          <p:nvPr/>
        </p:nvCxnSpPr>
        <p:spPr>
          <a:xfrm rot="5400000">
            <a:off x="3578860" y="808355"/>
            <a:ext cx="927100" cy="3229610"/>
          </a:xfrm>
          <a:prstGeom prst="bentConnector3">
            <a:avLst>
              <a:gd name="adj1" fmla="val 50000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矩形 71"/>
          <p:cNvSpPr/>
          <p:nvPr>
            <p:custDataLst>
              <p:tags r:id="rId22"/>
            </p:custDataLst>
          </p:nvPr>
        </p:nvSpPr>
        <p:spPr>
          <a:xfrm>
            <a:off x="2031365" y="405257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批量推送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76" name="肘形连接符 75"/>
          <p:cNvCxnSpPr>
            <a:stCxn id="74" idx="2"/>
          </p:cNvCxnSpPr>
          <p:nvPr>
            <p:custDataLst>
              <p:tags r:id="rId23"/>
            </p:custDataLst>
          </p:nvPr>
        </p:nvCxnSpPr>
        <p:spPr>
          <a:xfrm rot="5400000">
            <a:off x="1923415" y="3359150"/>
            <a:ext cx="561975" cy="446405"/>
          </a:xfrm>
          <a:prstGeom prst="bentConnector3">
            <a:avLst>
              <a:gd name="adj1" fmla="val 50056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肘形连接符 82"/>
          <p:cNvCxnSpPr>
            <a:endCxn id="37" idx="1"/>
          </p:cNvCxnSpPr>
          <p:nvPr>
            <p:custDataLst>
              <p:tags r:id="rId24"/>
            </p:custDataLst>
          </p:nvPr>
        </p:nvCxnSpPr>
        <p:spPr>
          <a:xfrm>
            <a:off x="2442845" y="3528695"/>
            <a:ext cx="2533650" cy="289560"/>
          </a:xfrm>
          <a:prstGeom prst="bentConnector3">
            <a:avLst>
              <a:gd name="adj1" fmla="val 79624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肘形连接符 83"/>
          <p:cNvCxnSpPr/>
          <p:nvPr>
            <p:custDataLst>
              <p:tags r:id="rId25"/>
            </p:custDataLst>
          </p:nvPr>
        </p:nvCxnSpPr>
        <p:spPr>
          <a:xfrm rot="5400000">
            <a:off x="5158105" y="2244090"/>
            <a:ext cx="1005205" cy="431800"/>
          </a:xfrm>
          <a:prstGeom prst="bentConnector3">
            <a:avLst>
              <a:gd name="adj1" fmla="val 50000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5657215" y="2253615"/>
            <a:ext cx="788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1.</a:t>
            </a:r>
            <a:r>
              <a:rPr lang="zh-CN" altLang="en-US" sz="1400">
                <a:highlight>
                  <a:srgbClr val="FFFF00"/>
                </a:highlight>
              </a:rPr>
              <a:t>圈人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7" name="文本框 86"/>
          <p:cNvSpPr txBox="1"/>
          <p:nvPr>
            <p:custDataLst>
              <p:tags r:id="rId26"/>
            </p:custDataLst>
          </p:nvPr>
        </p:nvSpPr>
        <p:spPr>
          <a:xfrm>
            <a:off x="3200400" y="2083435"/>
            <a:ext cx="1096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2.</a:t>
            </a:r>
            <a:r>
              <a:rPr lang="zh-CN" altLang="en-US" sz="1400">
                <a:highlight>
                  <a:srgbClr val="FFFF00"/>
                </a:highlight>
              </a:rPr>
              <a:t>队列异步推送决策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8" name="文本框 87"/>
          <p:cNvSpPr txBox="1"/>
          <p:nvPr>
            <p:custDataLst>
              <p:tags r:id="rId27"/>
            </p:custDataLst>
          </p:nvPr>
        </p:nvSpPr>
        <p:spPr>
          <a:xfrm>
            <a:off x="3956050" y="3383280"/>
            <a:ext cx="1096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3.</a:t>
            </a:r>
            <a:r>
              <a:rPr lang="zh-CN" altLang="en-US" sz="1400">
                <a:highlight>
                  <a:srgbClr val="FFFF00"/>
                </a:highlight>
              </a:rPr>
              <a:t>查标签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9" name="矩形 88"/>
          <p:cNvSpPr/>
          <p:nvPr>
            <p:custDataLst>
              <p:tags r:id="rId28"/>
            </p:custDataLst>
          </p:nvPr>
        </p:nvSpPr>
        <p:spPr>
          <a:xfrm>
            <a:off x="8992870" y="3070225"/>
            <a:ext cx="2845435" cy="7931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90" name="矩形 89"/>
          <p:cNvSpPr/>
          <p:nvPr>
            <p:custDataLst>
              <p:tags r:id="rId29"/>
            </p:custDataLst>
          </p:nvPr>
        </p:nvSpPr>
        <p:spPr>
          <a:xfrm>
            <a:off x="9088120" y="3337560"/>
            <a:ext cx="810895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定时抽取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>
            <p:custDataLst>
              <p:tags r:id="rId30"/>
            </p:custDataLst>
          </p:nvPr>
        </p:nvSpPr>
        <p:spPr>
          <a:xfrm>
            <a:off x="11019155" y="3337560"/>
            <a:ext cx="810895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拨打结果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>
            <p:custDataLst>
              <p:tags r:id="rId31"/>
            </p:custDataLst>
          </p:nvPr>
        </p:nvSpPr>
        <p:spPr>
          <a:xfrm>
            <a:off x="10011350" y="299178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（老）营销平台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>
            <p:custDataLst>
              <p:tags r:id="rId32"/>
            </p:custDataLst>
          </p:nvPr>
        </p:nvSpPr>
        <p:spPr>
          <a:xfrm>
            <a:off x="7835265" y="3735070"/>
            <a:ext cx="8191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Impala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>
            <p:custDataLst>
              <p:tags r:id="rId33"/>
            </p:custDataLst>
          </p:nvPr>
        </p:nvSpPr>
        <p:spPr>
          <a:xfrm>
            <a:off x="-22762" y="6070723"/>
            <a:ext cx="536575" cy="86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4"/>
            </p:custDataLst>
          </p:nvPr>
        </p:nvSpPr>
        <p:spPr>
          <a:xfrm>
            <a:off x="899160" y="3428365"/>
            <a:ext cx="1543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4.</a:t>
            </a:r>
            <a:r>
              <a:rPr lang="zh-CN" altLang="en-US" sz="1400">
                <a:highlight>
                  <a:srgbClr val="FFFF00"/>
                </a:highlight>
              </a:rPr>
              <a:t>异步推送指令</a:t>
            </a:r>
            <a:endParaRPr lang="zh-CN" altLang="en-US" sz="1400">
              <a:highlight>
                <a:srgbClr val="FFFF00"/>
              </a:highlight>
            </a:endParaRPr>
          </a:p>
        </p:txBody>
      </p:sp>
      <p:cxnSp>
        <p:nvCxnSpPr>
          <p:cNvPr id="98" name="肘形连接符 97"/>
          <p:cNvCxnSpPr>
            <a:stCxn id="72" idx="2"/>
            <a:endCxn id="24" idx="0"/>
          </p:cNvCxnSpPr>
          <p:nvPr>
            <p:custDataLst>
              <p:tags r:id="rId35"/>
            </p:custDataLst>
          </p:nvPr>
        </p:nvCxnSpPr>
        <p:spPr>
          <a:xfrm rot="5400000">
            <a:off x="1908175" y="4298315"/>
            <a:ext cx="450215" cy="788670"/>
          </a:xfrm>
          <a:prstGeom prst="bentConnector3">
            <a:avLst>
              <a:gd name="adj1" fmla="val 50000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肘形连接符 98"/>
          <p:cNvCxnSpPr>
            <a:stCxn id="72" idx="2"/>
            <a:endCxn id="28" idx="0"/>
          </p:cNvCxnSpPr>
          <p:nvPr>
            <p:custDataLst>
              <p:tags r:id="rId36"/>
            </p:custDataLst>
          </p:nvPr>
        </p:nvCxnSpPr>
        <p:spPr>
          <a:xfrm rot="5400000" flipV="1">
            <a:off x="3773805" y="3220720"/>
            <a:ext cx="450215" cy="2943225"/>
          </a:xfrm>
          <a:prstGeom prst="bentConnector3">
            <a:avLst>
              <a:gd name="adj1" fmla="val 50071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24" idx="2"/>
          </p:cNvCxnSpPr>
          <p:nvPr>
            <p:custDataLst>
              <p:tags r:id="rId37"/>
            </p:custDataLst>
          </p:nvPr>
        </p:nvCxnSpPr>
        <p:spPr>
          <a:xfrm rot="5400000" flipV="1">
            <a:off x="1611630" y="5526405"/>
            <a:ext cx="275590" cy="22225"/>
          </a:xfrm>
          <a:prstGeom prst="bentConnector3">
            <a:avLst>
              <a:gd name="adj1" fmla="val 49885"/>
            </a:avLst>
          </a:prstGeom>
          <a:ln w="38100">
            <a:solidFill>
              <a:schemeClr val="accent5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肘形连接符 100"/>
          <p:cNvCxnSpPr>
            <a:endCxn id="59" idx="0"/>
          </p:cNvCxnSpPr>
          <p:nvPr>
            <p:custDataLst>
              <p:tags r:id="rId38"/>
            </p:custDataLst>
          </p:nvPr>
        </p:nvCxnSpPr>
        <p:spPr>
          <a:xfrm rot="5400000" flipV="1">
            <a:off x="1619250" y="6123940"/>
            <a:ext cx="370840" cy="16510"/>
          </a:xfrm>
          <a:prstGeom prst="bentConnector3">
            <a:avLst>
              <a:gd name="adj1" fmla="val 50171"/>
            </a:avLst>
          </a:prstGeom>
          <a:ln w="38100">
            <a:solidFill>
              <a:schemeClr val="accent5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24" idx="3"/>
            <a:endCxn id="26" idx="1"/>
          </p:cNvCxnSpPr>
          <p:nvPr>
            <p:custDataLst>
              <p:tags r:id="rId39"/>
            </p:custDataLst>
          </p:nvPr>
        </p:nvCxnSpPr>
        <p:spPr>
          <a:xfrm>
            <a:off x="2499360" y="5159375"/>
            <a:ext cx="324485" cy="3175"/>
          </a:xfrm>
          <a:prstGeom prst="bentConnector2">
            <a:avLst/>
          </a:prstGeom>
          <a:ln w="38100"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肘形连接符 102"/>
          <p:cNvCxnSpPr>
            <a:stCxn id="28" idx="2"/>
            <a:endCxn id="52" idx="0"/>
          </p:cNvCxnSpPr>
          <p:nvPr>
            <p:custDataLst>
              <p:tags r:id="rId40"/>
            </p:custDataLst>
          </p:nvPr>
        </p:nvCxnSpPr>
        <p:spPr>
          <a:xfrm rot="5400000" flipV="1">
            <a:off x="5012690" y="5857240"/>
            <a:ext cx="917575" cy="3175"/>
          </a:xfrm>
          <a:prstGeom prst="bentConnector3">
            <a:avLst>
              <a:gd name="adj1" fmla="val 50035"/>
            </a:avLst>
          </a:prstGeom>
          <a:ln w="38100">
            <a:solidFill>
              <a:schemeClr val="accent5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肘形连接符 103"/>
          <p:cNvCxnSpPr>
            <a:stCxn id="15" idx="2"/>
          </p:cNvCxnSpPr>
          <p:nvPr>
            <p:custDataLst>
              <p:tags r:id="rId41"/>
            </p:custDataLst>
          </p:nvPr>
        </p:nvCxnSpPr>
        <p:spPr>
          <a:xfrm rot="5400000">
            <a:off x="9564370" y="1225550"/>
            <a:ext cx="721995" cy="2347595"/>
          </a:xfrm>
          <a:prstGeom prst="bentConnector2">
            <a:avLst/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89" idx="2"/>
          </p:cNvCxnSpPr>
          <p:nvPr>
            <p:custDataLst>
              <p:tags r:id="rId42"/>
            </p:custDataLst>
          </p:nvPr>
        </p:nvCxnSpPr>
        <p:spPr>
          <a:xfrm rot="5400000">
            <a:off x="7912100" y="2446020"/>
            <a:ext cx="1086485" cy="3921125"/>
          </a:xfrm>
          <a:prstGeom prst="bentConnector2">
            <a:avLst/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stCxn id="90" idx="1"/>
            <a:endCxn id="95" idx="3"/>
          </p:cNvCxnSpPr>
          <p:nvPr>
            <p:custDataLst>
              <p:tags r:id="rId43"/>
            </p:custDataLst>
          </p:nvPr>
        </p:nvCxnSpPr>
        <p:spPr>
          <a:xfrm rot="10800000" flipV="1">
            <a:off x="8654415" y="3545205"/>
            <a:ext cx="433705" cy="397510"/>
          </a:xfrm>
          <a:prstGeom prst="bentConnector3">
            <a:avLst>
              <a:gd name="adj1" fmla="val 49927"/>
            </a:avLst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肘形连接符 109"/>
          <p:cNvCxnSpPr>
            <a:stCxn id="75" idx="3"/>
            <a:endCxn id="78" idx="1"/>
          </p:cNvCxnSpPr>
          <p:nvPr>
            <p:custDataLst>
              <p:tags r:id="rId44"/>
            </p:custDataLst>
          </p:nvPr>
        </p:nvCxnSpPr>
        <p:spPr>
          <a:xfrm>
            <a:off x="5808345" y="3175635"/>
            <a:ext cx="993775" cy="30480"/>
          </a:xfrm>
          <a:prstGeom prst="bentConnector3">
            <a:avLst>
              <a:gd name="adj1" fmla="val 50032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肘形连接符 110"/>
          <p:cNvCxnSpPr/>
          <p:nvPr>
            <p:custDataLst>
              <p:tags r:id="rId45"/>
            </p:custDataLst>
          </p:nvPr>
        </p:nvCxnSpPr>
        <p:spPr>
          <a:xfrm>
            <a:off x="7599680" y="3216275"/>
            <a:ext cx="269240" cy="12065"/>
          </a:xfrm>
          <a:prstGeom prst="bentConnector3">
            <a:avLst>
              <a:gd name="adj1" fmla="val 50236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>
            <p:custDataLst>
              <p:tags r:id="rId46"/>
            </p:custDataLst>
          </p:nvPr>
        </p:nvSpPr>
        <p:spPr>
          <a:xfrm>
            <a:off x="1981200" y="4525010"/>
            <a:ext cx="2087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5.</a:t>
            </a:r>
            <a:r>
              <a:rPr lang="zh-CN" altLang="en-US" sz="1400">
                <a:highlight>
                  <a:srgbClr val="FFFF00"/>
                </a:highlight>
              </a:rPr>
              <a:t>定时文件批量推送</a:t>
            </a:r>
            <a:endParaRPr lang="zh-CN" altLang="en-US" sz="1400">
              <a:highlight>
                <a:srgbClr val="FFFF00"/>
              </a:highlight>
            </a:endParaRPr>
          </a:p>
        </p:txBody>
      </p:sp>
      <p:cxnSp>
        <p:nvCxnSpPr>
          <p:cNvPr id="113" name="肘形连接符 112"/>
          <p:cNvCxnSpPr>
            <a:endCxn id="12" idx="1"/>
          </p:cNvCxnSpPr>
          <p:nvPr>
            <p:custDataLst>
              <p:tags r:id="rId47"/>
            </p:custDataLst>
          </p:nvPr>
        </p:nvCxnSpPr>
        <p:spPr>
          <a:xfrm rot="16200000">
            <a:off x="8004175" y="1785620"/>
            <a:ext cx="1104900" cy="669925"/>
          </a:xfrm>
          <a:prstGeom prst="bentConnector2">
            <a:avLst/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>
            <p:custDataLst>
              <p:tags r:id="rId48"/>
            </p:custDataLst>
          </p:nvPr>
        </p:nvSpPr>
        <p:spPr>
          <a:xfrm>
            <a:off x="7868920" y="1732280"/>
            <a:ext cx="1023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1.</a:t>
            </a:r>
            <a:r>
              <a:rPr lang="zh-CN" altLang="en-US" sz="1400">
                <a:highlight>
                  <a:srgbClr val="00FFFF"/>
                </a:highlight>
              </a:rPr>
              <a:t>推标签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5" name="文本框 114"/>
          <p:cNvSpPr txBox="1"/>
          <p:nvPr>
            <p:custDataLst>
              <p:tags r:id="rId49"/>
            </p:custDataLst>
          </p:nvPr>
        </p:nvSpPr>
        <p:spPr>
          <a:xfrm>
            <a:off x="10586085" y="226949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2.</a:t>
            </a:r>
            <a:r>
              <a:rPr lang="zh-CN" altLang="en-US" sz="1400">
                <a:highlight>
                  <a:srgbClr val="00FFFF"/>
                </a:highlight>
              </a:rPr>
              <a:t>同步结果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6" name="文本框 115"/>
          <p:cNvSpPr txBox="1"/>
          <p:nvPr>
            <p:custDataLst>
              <p:tags r:id="rId50"/>
            </p:custDataLst>
          </p:nvPr>
        </p:nvSpPr>
        <p:spPr>
          <a:xfrm>
            <a:off x="9982200" y="4297045"/>
            <a:ext cx="1374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4.</a:t>
            </a:r>
            <a:r>
              <a:rPr lang="zh-CN" altLang="en-US" sz="1400">
                <a:highlight>
                  <a:srgbClr val="00FFFF"/>
                </a:highlight>
              </a:rPr>
              <a:t>批量推名单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7" name="文本框 116"/>
          <p:cNvSpPr txBox="1"/>
          <p:nvPr>
            <p:custDataLst>
              <p:tags r:id="rId51"/>
            </p:custDataLst>
          </p:nvPr>
        </p:nvSpPr>
        <p:spPr>
          <a:xfrm>
            <a:off x="8458835" y="3689985"/>
            <a:ext cx="1023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3.</a:t>
            </a:r>
            <a:r>
              <a:rPr lang="zh-CN" altLang="en-US" sz="1400">
                <a:highlight>
                  <a:srgbClr val="00FFFF"/>
                </a:highlight>
              </a:rPr>
              <a:t>查名单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571615" y="5162550"/>
            <a:ext cx="2911475" cy="1384300"/>
          </a:xfrm>
          <a:prstGeom prst="rect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1.</a:t>
            </a:r>
            <a:r>
              <a:rPr lang="zh-CN" altLang="en-US" sz="1400"/>
              <a:t>圈</a:t>
            </a:r>
            <a:r>
              <a:rPr lang="en-US" altLang="zh-CN" sz="1400"/>
              <a:t>100w</a:t>
            </a:r>
            <a:r>
              <a:rPr lang="zh-CN" altLang="en-US" sz="1400"/>
              <a:t>人</a:t>
            </a:r>
            <a:r>
              <a:rPr lang="en-US" altLang="zh-CN" sz="1400"/>
              <a:t>20</a:t>
            </a:r>
            <a:r>
              <a:rPr lang="zh-CN" altLang="en-US" sz="1400"/>
              <a:t>分钟</a:t>
            </a:r>
            <a:endParaRPr lang="zh-CN" altLang="en-US" sz="1400"/>
          </a:p>
          <a:p>
            <a:r>
              <a:rPr lang="en-US" altLang="zh-CN" sz="1400"/>
              <a:t>3.</a:t>
            </a:r>
            <a:r>
              <a:rPr lang="zh-CN" altLang="en-US" sz="1400"/>
              <a:t>查标签</a:t>
            </a:r>
            <a:r>
              <a:rPr lang="en-US" altLang="zh-CN" sz="1400"/>
              <a:t>120qps</a:t>
            </a:r>
            <a:r>
              <a:rPr lang="zh-CN" altLang="en-US" sz="1400"/>
              <a:t>，估算吞吐量约</a:t>
            </a:r>
            <a:r>
              <a:rPr lang="en-US" altLang="zh-CN" sz="1400"/>
              <a:t>40w/H</a:t>
            </a:r>
            <a:r>
              <a:rPr lang="zh-CN" altLang="en-US" sz="1400"/>
              <a:t>，加上决策耗时，估算吞吐量约</a:t>
            </a:r>
            <a:r>
              <a:rPr lang="en-US" altLang="zh-CN" sz="1400"/>
              <a:t>40w/H * 2</a:t>
            </a:r>
            <a:endParaRPr lang="en-US" altLang="zh-CN" sz="1400"/>
          </a:p>
          <a:p>
            <a:r>
              <a:rPr lang="en-US" altLang="zh-CN" sz="1400"/>
              <a:t>5. </a:t>
            </a:r>
            <a:r>
              <a:rPr lang="zh-CN" altLang="en-US" sz="1400"/>
              <a:t>控频</a:t>
            </a:r>
            <a:r>
              <a:rPr lang="en-US" altLang="zh-CN" sz="1400"/>
              <a:t>+</a:t>
            </a:r>
            <a:r>
              <a:rPr lang="zh-CN" altLang="en-US" sz="1400"/>
              <a:t>批量推送，吞吐量</a:t>
            </a:r>
            <a:r>
              <a:rPr lang="en-US" altLang="zh-CN" sz="1400"/>
              <a:t>10w/H</a:t>
            </a:r>
            <a:r>
              <a:rPr lang="zh-CN" altLang="en-US" sz="1400"/>
              <a:t>，每</a:t>
            </a:r>
            <a:r>
              <a:rPr lang="en-US" altLang="zh-CN" sz="1400"/>
              <a:t>3</a:t>
            </a:r>
            <a:r>
              <a:rPr lang="zh-CN" altLang="en-US" sz="1400"/>
              <a:t>分钟定时推送文件</a:t>
            </a:r>
            <a:endParaRPr lang="zh-CN" altLang="en-US" sz="1400"/>
          </a:p>
        </p:txBody>
      </p:sp>
      <p:sp>
        <p:nvSpPr>
          <p:cNvPr id="119" name="文本框 118"/>
          <p:cNvSpPr txBox="1"/>
          <p:nvPr>
            <p:custDataLst>
              <p:tags r:id="rId52"/>
            </p:custDataLst>
          </p:nvPr>
        </p:nvSpPr>
        <p:spPr>
          <a:xfrm>
            <a:off x="9546590" y="5162550"/>
            <a:ext cx="2873375" cy="1383665"/>
          </a:xfrm>
          <a:prstGeom prst="rect">
            <a:avLst/>
          </a:prstGeom>
          <a:solidFill>
            <a:srgbClr val="00B0F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1.</a:t>
            </a:r>
            <a:r>
              <a:rPr lang="en-US" sz="1400"/>
              <a:t>8</a:t>
            </a:r>
            <a:r>
              <a:rPr lang="zh-CN" altLang="en-US" sz="1400"/>
              <a:t>点前标签准备好</a:t>
            </a:r>
            <a:endParaRPr lang="zh-CN" altLang="en-US" sz="1400"/>
          </a:p>
          <a:p>
            <a:r>
              <a:rPr lang="en-US" altLang="zh-CN" sz="1400"/>
              <a:t>3.</a:t>
            </a:r>
            <a:r>
              <a:rPr lang="zh-CN" altLang="en-US" sz="1400"/>
              <a:t>每</a:t>
            </a:r>
            <a:r>
              <a:rPr lang="en-US" altLang="zh-CN" sz="1400"/>
              <a:t>5</a:t>
            </a:r>
            <a:r>
              <a:rPr lang="zh-CN" altLang="en-US" sz="1400"/>
              <a:t>分例行执行名单抽取，目前存在两个问题：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 </a:t>
            </a:r>
            <a:r>
              <a:rPr lang="en-US" altLang="zh-CN" sz="1400"/>
              <a:t>impala</a:t>
            </a:r>
            <a:r>
              <a:rPr lang="zh-CN" altLang="en-US" sz="1400"/>
              <a:t>连接问题</a:t>
            </a:r>
            <a:r>
              <a:rPr lang="en-US" altLang="zh-CN" sz="1400"/>
              <a:t>,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集群资源打满问题</a:t>
            </a:r>
            <a:endParaRPr lang="zh-CN" altLang="en-US" sz="1400"/>
          </a:p>
          <a:p>
            <a:endParaRPr lang="en-US" altLang="zh-CN" sz="1400"/>
          </a:p>
        </p:txBody>
      </p:sp>
      <p:cxnSp>
        <p:nvCxnSpPr>
          <p:cNvPr id="120" name="肘形连接符 119"/>
          <p:cNvCxnSpPr>
            <a:stCxn id="37" idx="3"/>
          </p:cNvCxnSpPr>
          <p:nvPr>
            <p:custDataLst>
              <p:tags r:id="rId53"/>
            </p:custDataLst>
          </p:nvPr>
        </p:nvCxnSpPr>
        <p:spPr>
          <a:xfrm flipV="1">
            <a:off x="5808345" y="3251200"/>
            <a:ext cx="934085" cy="567055"/>
          </a:xfrm>
          <a:prstGeom prst="bentConnector3">
            <a:avLst>
              <a:gd name="adj1" fmla="val 50034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矩形 120"/>
          <p:cNvSpPr/>
          <p:nvPr>
            <p:custDataLst>
              <p:tags r:id="rId54"/>
            </p:custDataLst>
          </p:nvPr>
        </p:nvSpPr>
        <p:spPr>
          <a:xfrm>
            <a:off x="10044430" y="3337560"/>
            <a:ext cx="8775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控频管理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9435913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日常任务情况及现有监控跟进机制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1"/>
          <a:srcRect r="43815"/>
          <a:stretch>
            <a:fillRect/>
          </a:stretch>
        </p:blipFill>
        <p:spPr>
          <a:xfrm>
            <a:off x="10221595" y="-10160"/>
            <a:ext cx="1779270" cy="667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1925" y="1094105"/>
            <a:ext cx="5062220" cy="3138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 b="1"/>
              <a:t>任务情况：</a:t>
            </a:r>
            <a:endParaRPr lang="zh-CN" altLang="en-US" b="1"/>
          </a:p>
          <a:p>
            <a:r>
              <a:rPr lang="en-US" altLang="zh-CN" b="1"/>
              <a:t>QA-</a:t>
            </a:r>
            <a:r>
              <a:rPr lang="zh-CN" altLang="en-US" b="1"/>
              <a:t>》营销平台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线上抽取规则</a:t>
            </a:r>
            <a:r>
              <a:rPr lang="en-US" altLang="zh-CN"/>
              <a:t>144</a:t>
            </a:r>
            <a:r>
              <a:rPr lang="zh-CN" altLang="en-US"/>
              <a:t>，名单明细待业务整理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每日名单推送量约</a:t>
            </a:r>
            <a:r>
              <a:rPr lang="en-US" altLang="zh-CN"/>
              <a:t>100w+</a:t>
            </a:r>
            <a:r>
              <a:rPr lang="zh-CN" altLang="en-US"/>
              <a:t>，浮动较大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每日名单推送量浮动较大，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用户经营平台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强连接与无连接实时策略</a:t>
            </a:r>
            <a:r>
              <a:rPr lang="en-US" altLang="zh-CN"/>
              <a:t>8</a:t>
            </a:r>
            <a:r>
              <a:rPr lang="zh-CN" altLang="en-US"/>
              <a:t>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每日圈人</a:t>
            </a:r>
            <a:r>
              <a:rPr lang="en-US" altLang="zh-CN"/>
              <a:t>20w+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推送电销</a:t>
            </a:r>
            <a:r>
              <a:rPr lang="en-US" altLang="zh-CN"/>
              <a:t>4w</a:t>
            </a:r>
            <a:r>
              <a:rPr lang="zh-CN" altLang="en-US"/>
              <a:t>左右，</a:t>
            </a:r>
            <a:r>
              <a:rPr lang="zh-CN" altLang="en-US"/>
              <a:t>受业务策略影响浮动大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82260" y="1094105"/>
            <a:ext cx="5300345" cy="31769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zh-CN" altLang="en-US" b="1"/>
              <a:t>监控跟进机制：</a:t>
            </a:r>
            <a:endParaRPr lang="zh-CN" altLang="en-US" b="1"/>
          </a:p>
          <a:p>
            <a:r>
              <a:rPr lang="en-US" altLang="zh-CN" b="1"/>
              <a:t>QA-</a:t>
            </a:r>
            <a:r>
              <a:rPr lang="zh-CN" altLang="en-US" b="1"/>
              <a:t>》营销平台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抽取规则总量告警，</a:t>
            </a:r>
            <a:r>
              <a:rPr lang="en-US" altLang="zh-CN"/>
              <a:t>7</a:t>
            </a:r>
            <a:r>
              <a:rPr lang="zh-CN" altLang="en-US"/>
              <a:t>日环比告警，不够敏感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impala</a:t>
            </a:r>
            <a:r>
              <a:rPr lang="zh-CN" altLang="en-US"/>
              <a:t>连接问题告警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人工每日早</a:t>
            </a:r>
            <a:r>
              <a:rPr lang="en-US" altLang="zh-CN"/>
              <a:t>8</a:t>
            </a:r>
            <a:r>
              <a:rPr lang="zh-CN" altLang="en-US"/>
              <a:t>点半值班，观察是否有无名单问题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用户经营平台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圈人异常告警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02950" y="808355"/>
            <a:ext cx="1097915" cy="8216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692765" y="2028190"/>
            <a:ext cx="1753870" cy="140081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682605" y="3566795"/>
            <a:ext cx="1983105" cy="10909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582910" y="4727575"/>
            <a:ext cx="1973580" cy="124587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859010" y="6043295"/>
            <a:ext cx="3186430" cy="12801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9435913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问题发生情况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1"/>
          <a:srcRect r="43815"/>
          <a:stretch>
            <a:fillRect/>
          </a:stretch>
        </p:blipFill>
        <p:spPr>
          <a:xfrm>
            <a:off x="10221595" y="-10160"/>
            <a:ext cx="1779270" cy="667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0825" y="782955"/>
            <a:ext cx="112928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11.22</a:t>
            </a:r>
            <a:r>
              <a:rPr lang="zh-CN" altLang="en-US" sz="1400"/>
              <a:t>（周三）</a:t>
            </a:r>
            <a:endParaRPr lang="zh-CN" altLang="en-US" sz="1400"/>
          </a:p>
          <a:p>
            <a:r>
              <a:rPr lang="zh-CN" altLang="en-US" sz="1400"/>
              <a:t>问题表现：为晨反馈弱连接名单切分过小，强连接名单未及时推送；</a:t>
            </a:r>
            <a:endParaRPr lang="zh-CN" altLang="en-US" sz="1400"/>
          </a:p>
          <a:p>
            <a:r>
              <a:rPr lang="zh-CN" altLang="en-US" sz="1400"/>
              <a:t>问题原因：</a:t>
            </a:r>
            <a:r>
              <a:rPr lang="zh-CN" altLang="en-US" sz="1400">
                <a:sym typeface="+mn-ea"/>
              </a:rPr>
              <a:t>为晨</a:t>
            </a:r>
            <a:r>
              <a:rPr lang="en-US" altLang="zh-CN" sz="1400">
                <a:sym typeface="+mn-ea"/>
              </a:rPr>
              <a:t>11.21</a:t>
            </a:r>
            <a:r>
              <a:rPr lang="zh-CN" altLang="en-US" sz="1400">
                <a:sym typeface="+mn-ea"/>
              </a:rPr>
              <a:t>部署弱连接策略到用户经营平台，</a:t>
            </a:r>
            <a:r>
              <a:rPr lang="en-US" altLang="zh-CN" sz="1400">
                <a:sym typeface="+mn-ea"/>
              </a:rPr>
              <a:t>11.22 8:00</a:t>
            </a:r>
            <a:r>
              <a:rPr lang="zh-CN" altLang="en-US" sz="1400">
                <a:sym typeface="+mn-ea"/>
              </a:rPr>
              <a:t>弱连接任务启动，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圈人</a:t>
            </a:r>
            <a:r>
              <a:rPr lang="en-US" altLang="zh-CN" sz="1400">
                <a:sym typeface="+mn-ea"/>
              </a:rPr>
              <a:t>110w+</a:t>
            </a:r>
            <a:r>
              <a:rPr lang="zh-CN" altLang="en-US" sz="1400">
                <a:sym typeface="+mn-ea"/>
              </a:rPr>
              <a:t>，推入决策后因超出决策吞吐能力导致积压，导致推送名单切分过小；</a:t>
            </a:r>
            <a:r>
              <a:rPr lang="en-US" altLang="zh-CN" sz="1400">
                <a:sym typeface="+mn-ea"/>
              </a:rPr>
              <a:t>9:10</a:t>
            </a:r>
            <a:r>
              <a:rPr lang="zh-CN" altLang="en-US" sz="1400">
                <a:sym typeface="+mn-ea"/>
              </a:rPr>
              <a:t>强连接任务启动后排队的等待处理，导致强连接任务推送延迟；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问题处置：弱连接任务全部重新推送；强连接任务业务迁移至</a:t>
            </a:r>
            <a:r>
              <a:rPr lang="en-US" altLang="zh-CN" sz="1400">
                <a:sym typeface="+mn-ea"/>
              </a:rPr>
              <a:t>QA</a:t>
            </a:r>
            <a:r>
              <a:rPr lang="zh-CN" altLang="en-US" sz="1400">
                <a:sym typeface="+mn-ea"/>
              </a:rPr>
              <a:t>推送；</a:t>
            </a:r>
            <a:endParaRPr lang="zh-CN" altLang="en-US" sz="1400">
              <a:sym typeface="+mn-ea"/>
            </a:endParaRPr>
          </a:p>
          <a:p>
            <a:r>
              <a:rPr lang="en-US" altLang="zh-CN" sz="1400"/>
              <a:t>9:26 </a:t>
            </a:r>
            <a:r>
              <a:rPr lang="zh-CN" altLang="en-US" sz="1400"/>
              <a:t>业务反馈</a:t>
            </a:r>
            <a:r>
              <a:rPr lang="zh-CN" altLang="en-US" sz="1400">
                <a:sym typeface="+mn-ea"/>
              </a:rPr>
              <a:t>弱连接名单切分过小，开发开始排查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9:30 </a:t>
            </a:r>
            <a:r>
              <a:rPr lang="zh-CN" altLang="en-US" sz="1400">
                <a:sym typeface="+mn-ea"/>
              </a:rPr>
              <a:t>确认弱连接圈人</a:t>
            </a:r>
            <a:r>
              <a:rPr lang="en-US" altLang="zh-CN" sz="1400">
                <a:sym typeface="+mn-ea"/>
              </a:rPr>
              <a:t>110w+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决策队列积压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10:00 </a:t>
            </a:r>
            <a:r>
              <a:rPr lang="zh-CN" altLang="en-US" sz="1400">
                <a:sym typeface="+mn-ea"/>
              </a:rPr>
              <a:t>强连接策略迁移到</a:t>
            </a:r>
            <a:r>
              <a:rPr lang="en-US" altLang="zh-CN" sz="1400">
                <a:sym typeface="+mn-ea"/>
              </a:rPr>
              <a:t>QA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弱连接任务准备重推策略</a:t>
            </a:r>
            <a:endParaRPr lang="zh-CN" altLang="en-US" sz="1400">
              <a:sym typeface="+mn-ea"/>
            </a:endParaRPr>
          </a:p>
          <a:p>
            <a:r>
              <a:rPr lang="en-US" altLang="zh-CN" sz="1400"/>
              <a:t>12:19 </a:t>
            </a:r>
            <a:r>
              <a:rPr lang="zh-CN" altLang="en-US" sz="1400"/>
              <a:t>弱连接任务开始重推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/>
              <a:t>11.23</a:t>
            </a:r>
            <a:r>
              <a:rPr lang="zh-CN" altLang="en-US" sz="1400"/>
              <a:t>（周四）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问题表现：强连接名单未及时推送；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问题原因：</a:t>
            </a:r>
            <a:r>
              <a:rPr lang="zh-CN" altLang="en-US" sz="1400">
                <a:sym typeface="+mn-ea"/>
              </a:rPr>
              <a:t>弱连接策略没有迁移到</a:t>
            </a:r>
            <a:r>
              <a:rPr lang="en-US" altLang="zh-CN" sz="1400">
                <a:sym typeface="+mn-ea"/>
              </a:rPr>
              <a:t>QA</a:t>
            </a:r>
            <a:r>
              <a:rPr lang="zh-CN" altLang="en-US" sz="1400">
                <a:sym typeface="+mn-ea"/>
              </a:rPr>
              <a:t>平台，</a:t>
            </a:r>
            <a:r>
              <a:rPr lang="en-US" altLang="zh-CN" sz="1400">
                <a:sym typeface="+mn-ea"/>
              </a:rPr>
              <a:t>11.23 8:00</a:t>
            </a:r>
            <a:r>
              <a:rPr lang="zh-CN" altLang="en-US" sz="1400">
                <a:sym typeface="+mn-ea"/>
              </a:rPr>
              <a:t>弱连接任务启动，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圈人</a:t>
            </a:r>
            <a:r>
              <a:rPr lang="en-US" altLang="zh-CN" sz="1400">
                <a:sym typeface="+mn-ea"/>
              </a:rPr>
              <a:t>110w+</a:t>
            </a:r>
            <a:r>
              <a:rPr lang="zh-CN" altLang="en-US" sz="1400">
                <a:sym typeface="+mn-ea"/>
              </a:rPr>
              <a:t>，情况同</a:t>
            </a:r>
            <a:r>
              <a:rPr lang="en-US" altLang="zh-CN" sz="1400">
                <a:sym typeface="+mn-ea"/>
              </a:rPr>
              <a:t>11.22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问题处置：弱连接任务全部取消；强连接任务业务迁移至</a:t>
            </a:r>
            <a:r>
              <a:rPr lang="en-US" altLang="zh-CN" sz="1400">
                <a:sym typeface="+mn-ea"/>
              </a:rPr>
              <a:t>QA</a:t>
            </a:r>
            <a:r>
              <a:rPr lang="zh-CN" altLang="en-US" sz="1400">
                <a:sym typeface="+mn-ea"/>
              </a:rPr>
              <a:t>推送；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9:20 </a:t>
            </a:r>
            <a:r>
              <a:rPr lang="zh-CN" altLang="en-US" sz="1400">
                <a:sym typeface="+mn-ea"/>
              </a:rPr>
              <a:t>开发确认用户经营平台推送名单正常，未确认都按名单级别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9:30 </a:t>
            </a:r>
            <a:r>
              <a:rPr lang="zh-CN" altLang="en-US" sz="1400">
                <a:sym typeface="+mn-ea"/>
              </a:rPr>
              <a:t>业务反馈强连接名单还未收到，开发开始排查，发现强连接任务仍在执行，情况同</a:t>
            </a:r>
            <a:r>
              <a:rPr lang="en-US" altLang="zh-CN" sz="1400">
                <a:sym typeface="+mn-ea"/>
              </a:rPr>
              <a:t>11.22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10:03 </a:t>
            </a:r>
            <a:r>
              <a:rPr lang="zh-CN" altLang="en-US" sz="1400">
                <a:sym typeface="+mn-ea"/>
              </a:rPr>
              <a:t>强连接业务切到</a:t>
            </a:r>
            <a:r>
              <a:rPr lang="en-US" altLang="zh-CN" sz="1400">
                <a:sym typeface="+mn-ea"/>
              </a:rPr>
              <a:t>QA</a:t>
            </a:r>
            <a:r>
              <a:rPr lang="zh-CN" altLang="en-US" sz="1400">
                <a:sym typeface="+mn-ea"/>
              </a:rPr>
              <a:t>推送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10:16 </a:t>
            </a:r>
            <a:r>
              <a:rPr lang="zh-CN" altLang="en-US" sz="1400">
                <a:sym typeface="+mn-ea"/>
              </a:rPr>
              <a:t>强连接数据开始推送</a:t>
            </a:r>
            <a:endParaRPr lang="zh-CN" altLang="en-US" sz="1400"/>
          </a:p>
          <a:p>
            <a:endParaRPr lang="zh-CN" altLang="en-US" sz="1400">
              <a:sym typeface="+mn-ea"/>
            </a:endParaRPr>
          </a:p>
          <a:p>
            <a:endParaRPr lang="zh-CN" altLang="en-US" sz="14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9435913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问题发生情况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1"/>
          <a:srcRect r="43815"/>
          <a:stretch>
            <a:fillRect/>
          </a:stretch>
        </p:blipFill>
        <p:spPr>
          <a:xfrm>
            <a:off x="10221595" y="-10160"/>
            <a:ext cx="1779270" cy="667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0825" y="782955"/>
            <a:ext cx="11292840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11.24</a:t>
            </a:r>
            <a:r>
              <a:rPr lang="zh-CN" altLang="en-US" sz="1400"/>
              <a:t>（周五）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问题原因：大数据标签数据未就绪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问题处置：大数据重跑标签数据</a:t>
            </a:r>
            <a:endParaRPr lang="zh-CN" altLang="en-US" sz="1400"/>
          </a:p>
          <a:p>
            <a:r>
              <a:rPr lang="en-US" altLang="zh-CN" sz="1400"/>
              <a:t>8:49 </a:t>
            </a:r>
            <a:r>
              <a:rPr lang="zh-CN" altLang="en-US" sz="1400"/>
              <a:t>【问题发现】值班发现用户经营平台圈选强连接用户为</a:t>
            </a:r>
            <a:r>
              <a:rPr lang="en-US" altLang="zh-CN" sz="1400"/>
              <a:t>0</a:t>
            </a:r>
            <a:r>
              <a:rPr lang="zh-CN" altLang="en-US" sz="1400"/>
              <a:t>；</a:t>
            </a:r>
            <a:r>
              <a:rPr lang="zh-CN" altLang="en-US" sz="1400">
                <a:sym typeface="+mn-ea"/>
              </a:rPr>
              <a:t>与晓东确认标签正常；</a:t>
            </a:r>
            <a:r>
              <a:rPr lang="zh-CN" altLang="en-US" sz="1400"/>
              <a:t>与业务确认后反馈业务调整了圈人策略；排查策略详情</a:t>
            </a:r>
            <a:endParaRPr lang="zh-CN" altLang="en-US" sz="1400"/>
          </a:p>
          <a:p>
            <a:r>
              <a:rPr lang="en-US" altLang="zh-CN" sz="1400"/>
              <a:t>9:24 </a:t>
            </a:r>
            <a:r>
              <a:rPr lang="zh-CN" altLang="en-US" sz="1400"/>
              <a:t>业务反馈</a:t>
            </a:r>
            <a:r>
              <a:rPr lang="en-US" altLang="zh-CN" sz="1400"/>
              <a:t>QA</a:t>
            </a:r>
            <a:r>
              <a:rPr lang="zh-CN" altLang="en-US" sz="1400"/>
              <a:t>推送名单数据也存在异常</a:t>
            </a:r>
            <a:endParaRPr lang="en-US" altLang="zh-CN" sz="1400"/>
          </a:p>
          <a:p>
            <a:r>
              <a:rPr lang="en-US" altLang="zh-CN" sz="1400"/>
              <a:t>9:30 </a:t>
            </a:r>
            <a:r>
              <a:rPr lang="zh-CN" altLang="en-US" sz="1400"/>
              <a:t>【问题确认】确认是标签数据问题</a:t>
            </a:r>
            <a:endParaRPr lang="en-US" altLang="zh-CN" sz="1400"/>
          </a:p>
          <a:p>
            <a:r>
              <a:rPr lang="en-US" altLang="zh-CN" sz="1400"/>
              <a:t>10:21  </a:t>
            </a:r>
            <a:r>
              <a:rPr lang="zh-CN" altLang="en-US" sz="1400"/>
              <a:t>标签数据恢复</a:t>
            </a:r>
            <a:endParaRPr lang="en-US" altLang="zh-CN" sz="1400"/>
          </a:p>
          <a:p>
            <a:r>
              <a:rPr lang="en-US" altLang="zh-CN" sz="1400"/>
              <a:t>10:30 </a:t>
            </a:r>
            <a:r>
              <a:rPr lang="zh-CN" altLang="en-US" sz="1400"/>
              <a:t>业务重新部署用户经营平台策略</a:t>
            </a:r>
            <a:endParaRPr lang="en-US" altLang="zh-CN" sz="1400"/>
          </a:p>
          <a:p>
            <a:r>
              <a:rPr lang="en-US" altLang="zh-CN" sz="1400"/>
              <a:t>10:43 </a:t>
            </a:r>
            <a:r>
              <a:rPr lang="zh-CN" altLang="en-US" sz="1400"/>
              <a:t>用户经营平台开始推送名单</a:t>
            </a:r>
            <a:endParaRPr lang="en-US" altLang="zh-CN" sz="1400"/>
          </a:p>
          <a:p>
            <a:r>
              <a:rPr lang="en-US" altLang="zh-CN" sz="1400"/>
              <a:t>11:16 </a:t>
            </a:r>
            <a:r>
              <a:rPr lang="zh-CN" altLang="en-US" sz="1400"/>
              <a:t>营销平台开始陆续推送名单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11.25</a:t>
            </a:r>
            <a:r>
              <a:rPr lang="zh-CN" altLang="en-US" sz="1400"/>
              <a:t>（周六）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问题原因：从报错日志看是</a:t>
            </a:r>
            <a:r>
              <a:rPr lang="en-US" altLang="zh-CN" sz="1400">
                <a:sym typeface="+mn-ea"/>
              </a:rPr>
              <a:t>impala</a:t>
            </a:r>
            <a:r>
              <a:rPr lang="zh-CN" altLang="en-US" sz="1400">
                <a:sym typeface="+mn-ea"/>
              </a:rPr>
              <a:t>集群资源不足；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问题处置：运维重启营销平台</a:t>
            </a:r>
            <a:endParaRPr lang="zh-CN" altLang="en-US" sz="1400"/>
          </a:p>
          <a:p>
            <a:r>
              <a:rPr lang="en-US" altLang="zh-CN" sz="1400"/>
              <a:t>10:55</a:t>
            </a:r>
            <a:r>
              <a:rPr lang="zh-CN" altLang="en-US" sz="1400">
                <a:sym typeface="+mn-ea"/>
              </a:rPr>
              <a:t>【问题发现】业务反馈汉之缘名单还没收到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11:20 </a:t>
            </a:r>
            <a:r>
              <a:rPr lang="zh-CN" altLang="en-US" sz="1400">
                <a:sym typeface="+mn-ea"/>
              </a:rPr>
              <a:t>值班同学反馈集群资源不足原因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11:50  </a:t>
            </a:r>
            <a:r>
              <a:rPr lang="zh-CN" altLang="en-US" sz="1400">
                <a:sym typeface="+mn-ea"/>
              </a:rPr>
              <a:t>运维重启营销平台</a:t>
            </a:r>
            <a:endParaRPr lang="zh-CN" altLang="en-US" sz="1400">
              <a:sym typeface="+mn-ea"/>
            </a:endParaRPr>
          </a:p>
          <a:p>
            <a:r>
              <a:rPr lang="en-US" altLang="zh-CN" sz="1400">
                <a:sym typeface="+mn-ea"/>
              </a:rPr>
              <a:t>12:06  </a:t>
            </a:r>
            <a:r>
              <a:rPr lang="zh-CN" altLang="en-US" sz="1400">
                <a:sym typeface="+mn-ea"/>
              </a:rPr>
              <a:t>业务反馈名单已推送</a:t>
            </a:r>
            <a:endParaRPr lang="zh-CN" altLang="en-US" sz="1400">
              <a:sym typeface="+mn-ea"/>
            </a:endParaRPr>
          </a:p>
          <a:p>
            <a:endParaRPr lang="zh-CN" altLang="en-US" sz="14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>
            <p:custDataLst>
              <p:tags r:id="rId1"/>
            </p:custDataLst>
          </p:nvPr>
        </p:nvSpPr>
        <p:spPr>
          <a:xfrm>
            <a:off x="6701155" y="2652395"/>
            <a:ext cx="2019300" cy="1951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60" name="矩形 59"/>
          <p:cNvSpPr/>
          <p:nvPr>
            <p:custDataLst>
              <p:tags r:id="rId2"/>
            </p:custDataLst>
          </p:nvPr>
        </p:nvSpPr>
        <p:spPr>
          <a:xfrm>
            <a:off x="540385" y="6245860"/>
            <a:ext cx="5907405" cy="5200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65" name="矩形 64"/>
          <p:cNvSpPr/>
          <p:nvPr>
            <p:custDataLst>
              <p:tags r:id="rId3"/>
            </p:custDataLst>
          </p:nvPr>
        </p:nvSpPr>
        <p:spPr>
          <a:xfrm>
            <a:off x="367030" y="819785"/>
            <a:ext cx="6205855" cy="3783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4787265" y="2736215"/>
            <a:ext cx="1403350" cy="1467485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4" name="矩形 33"/>
          <p:cNvSpPr/>
          <p:nvPr/>
        </p:nvSpPr>
        <p:spPr>
          <a:xfrm>
            <a:off x="773430" y="1223010"/>
            <a:ext cx="2392045" cy="7835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9435913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系统改进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5"/>
          <a:srcRect r="43815"/>
          <a:stretch>
            <a:fillRect/>
          </a:stretch>
        </p:blipFill>
        <p:spPr>
          <a:xfrm>
            <a:off x="10221595" y="-10160"/>
            <a:ext cx="1779270" cy="667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" name="矩形 61"/>
          <p:cNvSpPr/>
          <p:nvPr/>
        </p:nvSpPr>
        <p:spPr>
          <a:xfrm>
            <a:off x="629920" y="2619375"/>
            <a:ext cx="3667125" cy="664845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0" name="矩形 69"/>
          <p:cNvSpPr/>
          <p:nvPr/>
        </p:nvSpPr>
        <p:spPr>
          <a:xfrm>
            <a:off x="539750" y="2502535"/>
            <a:ext cx="5907405" cy="20224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3" name="矩形 72"/>
          <p:cNvSpPr/>
          <p:nvPr/>
        </p:nvSpPr>
        <p:spPr>
          <a:xfrm>
            <a:off x="728345" y="288671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实时决策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932305" y="2886710"/>
            <a:ext cx="99060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异步决策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976495" y="2967990"/>
            <a:ext cx="8318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圈人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65475" y="2886710"/>
            <a:ext cx="99060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802120" y="2998470"/>
            <a:ext cx="8191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查询服务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-13817" y="1051094"/>
            <a:ext cx="536575" cy="86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-93" y="2675198"/>
            <a:ext cx="536575" cy="860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-17682" y="4798183"/>
            <a:ext cx="536575" cy="86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触达层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71500" y="1164590"/>
            <a:ext cx="5876290" cy="918845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7" name="矩形 106"/>
          <p:cNvSpPr/>
          <p:nvPr/>
        </p:nvSpPr>
        <p:spPr>
          <a:xfrm>
            <a:off x="2031305" y="257649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决策引擎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2203" y="1052552"/>
            <a:ext cx="2844961" cy="1030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QA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2788" y="1413556"/>
            <a:ext cx="825319" cy="6184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圈人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686608" y="1420251"/>
            <a:ext cx="825319" cy="6184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下发结果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73430" y="156908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32305" y="156527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事件触发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9750" y="4798695"/>
            <a:ext cx="5906770" cy="118681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" name="矩形 23"/>
          <p:cNvSpPr/>
          <p:nvPr/>
        </p:nvSpPr>
        <p:spPr>
          <a:xfrm>
            <a:off x="977363" y="4918154"/>
            <a:ext cx="1522155" cy="4819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电销平台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823867" y="4918222"/>
            <a:ext cx="1522155" cy="48196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预测试外呼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49629" y="4918154"/>
            <a:ext cx="1641940" cy="4819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外呼平台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976495" y="3610610"/>
            <a:ext cx="8318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查标签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97097" y="1223173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事件中心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>
            <p:custDataLst>
              <p:tags r:id="rId6"/>
            </p:custDataLst>
          </p:nvPr>
        </p:nvSpPr>
        <p:spPr>
          <a:xfrm>
            <a:off x="6802120" y="3735070"/>
            <a:ext cx="797560" cy="4819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标签</a:t>
            </a:r>
            <a:r>
              <a:rPr lang="en-US" altLang="zh-CN" sz="1200" dirty="0">
                <a:solidFill>
                  <a:schemeClr val="bg1"/>
                </a:solidFill>
              </a:rPr>
              <a:t>ETL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5225990" y="265269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CDP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3989070" y="1223645"/>
            <a:ext cx="2201545" cy="782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068445" y="156908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5165090" y="1569085"/>
            <a:ext cx="984250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计划执行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11"/>
            </p:custDataLst>
          </p:nvPr>
        </p:nvSpPr>
        <p:spPr>
          <a:xfrm>
            <a:off x="4560692" y="1192693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计划中心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629920" y="3875405"/>
            <a:ext cx="3665855" cy="592455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4" name="矩形 43"/>
          <p:cNvSpPr/>
          <p:nvPr>
            <p:custDataLst>
              <p:tags r:id="rId13"/>
            </p:custDataLst>
          </p:nvPr>
        </p:nvSpPr>
        <p:spPr>
          <a:xfrm>
            <a:off x="7835265" y="2998470"/>
            <a:ext cx="8191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StarRocks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>
            <p:custDataLst>
              <p:tags r:id="rId14"/>
            </p:custDataLst>
          </p:nvPr>
        </p:nvSpPr>
        <p:spPr>
          <a:xfrm>
            <a:off x="977265" y="5610860"/>
            <a:ext cx="1511935" cy="347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呼叫中心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>
            <p:custDataLst>
              <p:tags r:id="rId15"/>
            </p:custDataLst>
          </p:nvPr>
        </p:nvSpPr>
        <p:spPr>
          <a:xfrm>
            <a:off x="4651375" y="6317615"/>
            <a:ext cx="1642110" cy="3676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00" dirty="0">
                <a:solidFill>
                  <a:schemeClr val="bg1"/>
                </a:solidFill>
              </a:rPr>
              <a:t>93</a:t>
            </a:r>
            <a:r>
              <a:rPr lang="zh-CN" altLang="en-US" sz="1200" dirty="0">
                <a:solidFill>
                  <a:schemeClr val="bg1"/>
                </a:solidFill>
              </a:rPr>
              <a:t>、智齿等</a:t>
            </a:r>
            <a:r>
              <a:rPr lang="en-US" altLang="zh-CN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厂商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9" name="矩形 58"/>
          <p:cNvSpPr/>
          <p:nvPr>
            <p:custDataLst>
              <p:tags r:id="rId16"/>
            </p:custDataLst>
          </p:nvPr>
        </p:nvSpPr>
        <p:spPr>
          <a:xfrm>
            <a:off x="991870" y="6317615"/>
            <a:ext cx="1642110" cy="36766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1200" dirty="0">
                <a:solidFill>
                  <a:schemeClr val="bg1"/>
                </a:solidFill>
              </a:rPr>
              <a:t>线路</a:t>
            </a:r>
            <a:r>
              <a:rPr lang="zh-CN" altLang="en-US" sz="1200" dirty="0">
                <a:solidFill>
                  <a:schemeClr val="bg1"/>
                </a:solidFill>
              </a:rPr>
              <a:t>厂商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61" name="矩形 60"/>
          <p:cNvSpPr/>
          <p:nvPr>
            <p:custDataLst>
              <p:tags r:id="rId17"/>
            </p:custDataLst>
          </p:nvPr>
        </p:nvSpPr>
        <p:spPr>
          <a:xfrm>
            <a:off x="2834005" y="5617845"/>
            <a:ext cx="1511935" cy="347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VOS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>
            <p:custDataLst>
              <p:tags r:id="rId18"/>
            </p:custDataLst>
          </p:nvPr>
        </p:nvSpPr>
        <p:spPr>
          <a:xfrm>
            <a:off x="2031305" y="3767116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指令中心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>
            <p:custDataLst>
              <p:tags r:id="rId19"/>
            </p:custDataLst>
          </p:nvPr>
        </p:nvSpPr>
        <p:spPr>
          <a:xfrm>
            <a:off x="728345" y="405257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控频管理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>
            <p:custDataLst>
              <p:tags r:id="rId20"/>
            </p:custDataLst>
          </p:nvPr>
        </p:nvSpPr>
        <p:spPr>
          <a:xfrm>
            <a:off x="7186870" y="262221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大数据平台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21"/>
            </p:custDataLst>
          </p:nvPr>
        </p:nvSpPr>
        <p:spPr>
          <a:xfrm>
            <a:off x="2499360" y="753745"/>
            <a:ext cx="2646045" cy="410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用户经营平台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" name="肘形连接符 70"/>
          <p:cNvCxnSpPr>
            <a:stCxn id="13" idx="2"/>
            <a:endCxn id="74" idx="0"/>
          </p:cNvCxnSpPr>
          <p:nvPr/>
        </p:nvCxnSpPr>
        <p:spPr>
          <a:xfrm rot="5400000">
            <a:off x="3578860" y="808355"/>
            <a:ext cx="927100" cy="3229610"/>
          </a:xfrm>
          <a:prstGeom prst="bentConnector3">
            <a:avLst>
              <a:gd name="adj1" fmla="val 50000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矩形 71"/>
          <p:cNvSpPr/>
          <p:nvPr>
            <p:custDataLst>
              <p:tags r:id="rId22"/>
            </p:custDataLst>
          </p:nvPr>
        </p:nvSpPr>
        <p:spPr>
          <a:xfrm>
            <a:off x="2031365" y="405257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批量推送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76" name="肘形连接符 75"/>
          <p:cNvCxnSpPr>
            <a:stCxn id="74" idx="2"/>
          </p:cNvCxnSpPr>
          <p:nvPr>
            <p:custDataLst>
              <p:tags r:id="rId23"/>
            </p:custDataLst>
          </p:nvPr>
        </p:nvCxnSpPr>
        <p:spPr>
          <a:xfrm rot="5400000">
            <a:off x="1923415" y="3359150"/>
            <a:ext cx="561975" cy="446405"/>
          </a:xfrm>
          <a:prstGeom prst="bentConnector3">
            <a:avLst>
              <a:gd name="adj1" fmla="val 50056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肘形连接符 82"/>
          <p:cNvCxnSpPr>
            <a:endCxn id="37" idx="1"/>
          </p:cNvCxnSpPr>
          <p:nvPr>
            <p:custDataLst>
              <p:tags r:id="rId24"/>
            </p:custDataLst>
          </p:nvPr>
        </p:nvCxnSpPr>
        <p:spPr>
          <a:xfrm>
            <a:off x="2442845" y="3528695"/>
            <a:ext cx="2533650" cy="289560"/>
          </a:xfrm>
          <a:prstGeom prst="bentConnector3">
            <a:avLst>
              <a:gd name="adj1" fmla="val 79624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肘形连接符 83"/>
          <p:cNvCxnSpPr/>
          <p:nvPr>
            <p:custDataLst>
              <p:tags r:id="rId25"/>
            </p:custDataLst>
          </p:nvPr>
        </p:nvCxnSpPr>
        <p:spPr>
          <a:xfrm rot="5400000">
            <a:off x="5158105" y="2244090"/>
            <a:ext cx="1005205" cy="431800"/>
          </a:xfrm>
          <a:prstGeom prst="bentConnector3">
            <a:avLst>
              <a:gd name="adj1" fmla="val 50000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5657215" y="2253615"/>
            <a:ext cx="788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1.</a:t>
            </a:r>
            <a:r>
              <a:rPr lang="zh-CN" altLang="en-US" sz="1400">
                <a:highlight>
                  <a:srgbClr val="FFFF00"/>
                </a:highlight>
              </a:rPr>
              <a:t>圈人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7" name="文本框 86"/>
          <p:cNvSpPr txBox="1"/>
          <p:nvPr>
            <p:custDataLst>
              <p:tags r:id="rId26"/>
            </p:custDataLst>
          </p:nvPr>
        </p:nvSpPr>
        <p:spPr>
          <a:xfrm>
            <a:off x="3200400" y="2083435"/>
            <a:ext cx="1096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2.</a:t>
            </a:r>
            <a:r>
              <a:rPr lang="zh-CN" altLang="en-US" sz="1400">
                <a:highlight>
                  <a:srgbClr val="FFFF00"/>
                </a:highlight>
              </a:rPr>
              <a:t>队列异步推送决策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8" name="文本框 87"/>
          <p:cNvSpPr txBox="1"/>
          <p:nvPr>
            <p:custDataLst>
              <p:tags r:id="rId27"/>
            </p:custDataLst>
          </p:nvPr>
        </p:nvSpPr>
        <p:spPr>
          <a:xfrm>
            <a:off x="3956050" y="3383280"/>
            <a:ext cx="1096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3.</a:t>
            </a:r>
            <a:r>
              <a:rPr lang="zh-CN" altLang="en-US" sz="1400">
                <a:highlight>
                  <a:srgbClr val="FFFF00"/>
                </a:highlight>
              </a:rPr>
              <a:t>查标签</a:t>
            </a:r>
            <a:endParaRPr lang="zh-CN" altLang="en-US" sz="1400">
              <a:highlight>
                <a:srgbClr val="FFFF00"/>
              </a:highlight>
            </a:endParaRPr>
          </a:p>
        </p:txBody>
      </p:sp>
      <p:sp>
        <p:nvSpPr>
          <p:cNvPr id="89" name="矩形 88"/>
          <p:cNvSpPr/>
          <p:nvPr>
            <p:custDataLst>
              <p:tags r:id="rId28"/>
            </p:custDataLst>
          </p:nvPr>
        </p:nvSpPr>
        <p:spPr>
          <a:xfrm>
            <a:off x="8989695" y="3070225"/>
            <a:ext cx="2845435" cy="7931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90" name="矩形 89"/>
          <p:cNvSpPr/>
          <p:nvPr>
            <p:custDataLst>
              <p:tags r:id="rId29"/>
            </p:custDataLst>
          </p:nvPr>
        </p:nvSpPr>
        <p:spPr>
          <a:xfrm>
            <a:off x="9088120" y="3337560"/>
            <a:ext cx="99187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定时抽取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>
            <p:custDataLst>
              <p:tags r:id="rId30"/>
            </p:custDataLst>
          </p:nvPr>
        </p:nvSpPr>
        <p:spPr>
          <a:xfrm>
            <a:off x="10619105" y="3332480"/>
            <a:ext cx="99060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拨打结果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>
            <p:custDataLst>
              <p:tags r:id="rId31"/>
            </p:custDataLst>
          </p:nvPr>
        </p:nvSpPr>
        <p:spPr>
          <a:xfrm>
            <a:off x="10011350" y="2991781"/>
            <a:ext cx="1345636" cy="345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营销平台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>
            <p:custDataLst>
              <p:tags r:id="rId32"/>
            </p:custDataLst>
          </p:nvPr>
        </p:nvSpPr>
        <p:spPr>
          <a:xfrm>
            <a:off x="7835265" y="3735070"/>
            <a:ext cx="819150" cy="4152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Impala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>
            <p:custDataLst>
              <p:tags r:id="rId33"/>
            </p:custDataLst>
          </p:nvPr>
        </p:nvSpPr>
        <p:spPr>
          <a:xfrm>
            <a:off x="-22762" y="6070723"/>
            <a:ext cx="536575" cy="86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4"/>
            </p:custDataLst>
          </p:nvPr>
        </p:nvSpPr>
        <p:spPr>
          <a:xfrm>
            <a:off x="899160" y="3428365"/>
            <a:ext cx="1543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4.</a:t>
            </a:r>
            <a:r>
              <a:rPr lang="zh-CN" altLang="en-US" sz="1400">
                <a:highlight>
                  <a:srgbClr val="FFFF00"/>
                </a:highlight>
              </a:rPr>
              <a:t>异步推送指令</a:t>
            </a:r>
            <a:endParaRPr lang="zh-CN" altLang="en-US" sz="1400">
              <a:highlight>
                <a:srgbClr val="FFFF00"/>
              </a:highlight>
            </a:endParaRPr>
          </a:p>
        </p:txBody>
      </p:sp>
      <p:cxnSp>
        <p:nvCxnSpPr>
          <p:cNvPr id="98" name="肘形连接符 97"/>
          <p:cNvCxnSpPr>
            <a:stCxn id="72" idx="2"/>
            <a:endCxn id="24" idx="0"/>
          </p:cNvCxnSpPr>
          <p:nvPr>
            <p:custDataLst>
              <p:tags r:id="rId35"/>
            </p:custDataLst>
          </p:nvPr>
        </p:nvCxnSpPr>
        <p:spPr>
          <a:xfrm rot="5400000">
            <a:off x="1908175" y="4298315"/>
            <a:ext cx="450215" cy="788670"/>
          </a:xfrm>
          <a:prstGeom prst="bentConnector3">
            <a:avLst>
              <a:gd name="adj1" fmla="val 50000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肘形连接符 98"/>
          <p:cNvCxnSpPr>
            <a:stCxn id="72" idx="2"/>
            <a:endCxn id="28" idx="0"/>
          </p:cNvCxnSpPr>
          <p:nvPr>
            <p:custDataLst>
              <p:tags r:id="rId36"/>
            </p:custDataLst>
          </p:nvPr>
        </p:nvCxnSpPr>
        <p:spPr>
          <a:xfrm rot="5400000" flipV="1">
            <a:off x="3773805" y="3220720"/>
            <a:ext cx="450215" cy="2943225"/>
          </a:xfrm>
          <a:prstGeom prst="bentConnector3">
            <a:avLst>
              <a:gd name="adj1" fmla="val 50071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24" idx="2"/>
          </p:cNvCxnSpPr>
          <p:nvPr>
            <p:custDataLst>
              <p:tags r:id="rId37"/>
            </p:custDataLst>
          </p:nvPr>
        </p:nvCxnSpPr>
        <p:spPr>
          <a:xfrm rot="5400000" flipV="1">
            <a:off x="1611630" y="5526405"/>
            <a:ext cx="275590" cy="22225"/>
          </a:xfrm>
          <a:prstGeom prst="bentConnector3">
            <a:avLst>
              <a:gd name="adj1" fmla="val 49885"/>
            </a:avLst>
          </a:prstGeom>
          <a:ln w="38100">
            <a:solidFill>
              <a:schemeClr val="accent5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肘形连接符 100"/>
          <p:cNvCxnSpPr>
            <a:endCxn id="59" idx="0"/>
          </p:cNvCxnSpPr>
          <p:nvPr>
            <p:custDataLst>
              <p:tags r:id="rId38"/>
            </p:custDataLst>
          </p:nvPr>
        </p:nvCxnSpPr>
        <p:spPr>
          <a:xfrm rot="5400000" flipV="1">
            <a:off x="1619250" y="6123940"/>
            <a:ext cx="370840" cy="16510"/>
          </a:xfrm>
          <a:prstGeom prst="bentConnector3">
            <a:avLst>
              <a:gd name="adj1" fmla="val 50171"/>
            </a:avLst>
          </a:prstGeom>
          <a:ln w="38100">
            <a:solidFill>
              <a:schemeClr val="accent5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24" idx="3"/>
            <a:endCxn id="26" idx="1"/>
          </p:cNvCxnSpPr>
          <p:nvPr>
            <p:custDataLst>
              <p:tags r:id="rId39"/>
            </p:custDataLst>
          </p:nvPr>
        </p:nvCxnSpPr>
        <p:spPr>
          <a:xfrm>
            <a:off x="2499360" y="5159375"/>
            <a:ext cx="324485" cy="3175"/>
          </a:xfrm>
          <a:prstGeom prst="bentConnector2">
            <a:avLst/>
          </a:prstGeom>
          <a:ln w="38100"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肘形连接符 102"/>
          <p:cNvCxnSpPr>
            <a:stCxn id="28" idx="2"/>
            <a:endCxn id="52" idx="0"/>
          </p:cNvCxnSpPr>
          <p:nvPr>
            <p:custDataLst>
              <p:tags r:id="rId40"/>
            </p:custDataLst>
          </p:nvPr>
        </p:nvCxnSpPr>
        <p:spPr>
          <a:xfrm rot="5400000" flipV="1">
            <a:off x="5012690" y="5857240"/>
            <a:ext cx="917575" cy="3175"/>
          </a:xfrm>
          <a:prstGeom prst="bentConnector3">
            <a:avLst>
              <a:gd name="adj1" fmla="val 50035"/>
            </a:avLst>
          </a:prstGeom>
          <a:ln w="38100">
            <a:solidFill>
              <a:schemeClr val="accent5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肘形连接符 103"/>
          <p:cNvCxnSpPr>
            <a:stCxn id="15" idx="2"/>
          </p:cNvCxnSpPr>
          <p:nvPr>
            <p:custDataLst>
              <p:tags r:id="rId41"/>
            </p:custDataLst>
          </p:nvPr>
        </p:nvCxnSpPr>
        <p:spPr>
          <a:xfrm rot="5400000">
            <a:off x="9564370" y="1225550"/>
            <a:ext cx="721995" cy="2347595"/>
          </a:xfrm>
          <a:prstGeom prst="bentConnector2">
            <a:avLst/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89" idx="2"/>
          </p:cNvCxnSpPr>
          <p:nvPr>
            <p:custDataLst>
              <p:tags r:id="rId42"/>
            </p:custDataLst>
          </p:nvPr>
        </p:nvCxnSpPr>
        <p:spPr>
          <a:xfrm rot="5400000">
            <a:off x="7908925" y="2445385"/>
            <a:ext cx="1086485" cy="3921125"/>
          </a:xfrm>
          <a:prstGeom prst="bentConnector2">
            <a:avLst/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stCxn id="90" idx="1"/>
            <a:endCxn id="95" idx="3"/>
          </p:cNvCxnSpPr>
          <p:nvPr>
            <p:custDataLst>
              <p:tags r:id="rId43"/>
            </p:custDataLst>
          </p:nvPr>
        </p:nvCxnSpPr>
        <p:spPr>
          <a:xfrm rot="10800000" flipV="1">
            <a:off x="8654415" y="3545205"/>
            <a:ext cx="433705" cy="397510"/>
          </a:xfrm>
          <a:prstGeom prst="bentConnector3">
            <a:avLst>
              <a:gd name="adj1" fmla="val 49927"/>
            </a:avLst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肘形连接符 109"/>
          <p:cNvCxnSpPr>
            <a:endCxn id="78" idx="1"/>
          </p:cNvCxnSpPr>
          <p:nvPr>
            <p:custDataLst>
              <p:tags r:id="rId44"/>
            </p:custDataLst>
          </p:nvPr>
        </p:nvCxnSpPr>
        <p:spPr>
          <a:xfrm flipV="1">
            <a:off x="6190615" y="3206115"/>
            <a:ext cx="611505" cy="212725"/>
          </a:xfrm>
          <a:prstGeom prst="bentConnector3">
            <a:avLst>
              <a:gd name="adj1" fmla="val 50052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肘形连接符 110"/>
          <p:cNvCxnSpPr/>
          <p:nvPr>
            <p:custDataLst>
              <p:tags r:id="rId45"/>
            </p:custDataLst>
          </p:nvPr>
        </p:nvCxnSpPr>
        <p:spPr>
          <a:xfrm>
            <a:off x="7599680" y="3216275"/>
            <a:ext cx="269240" cy="12065"/>
          </a:xfrm>
          <a:prstGeom prst="bentConnector3">
            <a:avLst>
              <a:gd name="adj1" fmla="val 50236"/>
            </a:avLst>
          </a:prstGeom>
          <a:ln w="38100">
            <a:solidFill>
              <a:srgbClr val="ED7D31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>
            <p:custDataLst>
              <p:tags r:id="rId46"/>
            </p:custDataLst>
          </p:nvPr>
        </p:nvSpPr>
        <p:spPr>
          <a:xfrm>
            <a:off x="1981200" y="4525010"/>
            <a:ext cx="1543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FFFF00"/>
                </a:highlight>
              </a:rPr>
              <a:t>5.</a:t>
            </a:r>
            <a:r>
              <a:rPr lang="zh-CN" altLang="en-US" sz="1400">
                <a:highlight>
                  <a:srgbClr val="FFFF00"/>
                </a:highlight>
              </a:rPr>
              <a:t>文件批量推送</a:t>
            </a:r>
            <a:endParaRPr lang="zh-CN" altLang="en-US" sz="1400">
              <a:highlight>
                <a:srgbClr val="FFFF00"/>
              </a:highlight>
            </a:endParaRPr>
          </a:p>
        </p:txBody>
      </p:sp>
      <p:cxnSp>
        <p:nvCxnSpPr>
          <p:cNvPr id="113" name="肘形连接符 112"/>
          <p:cNvCxnSpPr>
            <a:endCxn id="12" idx="1"/>
          </p:cNvCxnSpPr>
          <p:nvPr>
            <p:custDataLst>
              <p:tags r:id="rId47"/>
            </p:custDataLst>
          </p:nvPr>
        </p:nvCxnSpPr>
        <p:spPr>
          <a:xfrm rot="16200000">
            <a:off x="8004175" y="1785620"/>
            <a:ext cx="1104900" cy="669925"/>
          </a:xfrm>
          <a:prstGeom prst="bentConnector2">
            <a:avLst/>
          </a:prstGeom>
          <a:ln w="38100">
            <a:solidFill>
              <a:srgbClr val="00B050"/>
            </a:solidFill>
            <a:round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>
            <p:custDataLst>
              <p:tags r:id="rId48"/>
            </p:custDataLst>
          </p:nvPr>
        </p:nvSpPr>
        <p:spPr>
          <a:xfrm>
            <a:off x="7868920" y="1732280"/>
            <a:ext cx="1023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1.</a:t>
            </a:r>
            <a:r>
              <a:rPr lang="zh-CN" altLang="en-US" sz="1400">
                <a:highlight>
                  <a:srgbClr val="00FFFF"/>
                </a:highlight>
              </a:rPr>
              <a:t>推标签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5" name="文本框 114"/>
          <p:cNvSpPr txBox="1"/>
          <p:nvPr>
            <p:custDataLst>
              <p:tags r:id="rId49"/>
            </p:custDataLst>
          </p:nvPr>
        </p:nvSpPr>
        <p:spPr>
          <a:xfrm>
            <a:off x="10586085" y="226949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2.</a:t>
            </a:r>
            <a:r>
              <a:rPr lang="zh-CN" altLang="en-US" sz="1400">
                <a:highlight>
                  <a:srgbClr val="00FFFF"/>
                </a:highlight>
              </a:rPr>
              <a:t>同步结果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6" name="文本框 115"/>
          <p:cNvSpPr txBox="1"/>
          <p:nvPr>
            <p:custDataLst>
              <p:tags r:id="rId50"/>
            </p:custDataLst>
          </p:nvPr>
        </p:nvSpPr>
        <p:spPr>
          <a:xfrm>
            <a:off x="9982200" y="4297045"/>
            <a:ext cx="1374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4.</a:t>
            </a:r>
            <a:r>
              <a:rPr lang="zh-CN" altLang="en-US" sz="1400">
                <a:highlight>
                  <a:srgbClr val="00FFFF"/>
                </a:highlight>
              </a:rPr>
              <a:t>批量推名单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7" name="文本框 116"/>
          <p:cNvSpPr txBox="1"/>
          <p:nvPr>
            <p:custDataLst>
              <p:tags r:id="rId51"/>
            </p:custDataLst>
          </p:nvPr>
        </p:nvSpPr>
        <p:spPr>
          <a:xfrm>
            <a:off x="8458835" y="3689985"/>
            <a:ext cx="1023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highlight>
                  <a:srgbClr val="00FFFF"/>
                </a:highlight>
              </a:rPr>
              <a:t>3.</a:t>
            </a:r>
            <a:r>
              <a:rPr lang="zh-CN" altLang="en-US" sz="1400">
                <a:highlight>
                  <a:srgbClr val="00FFFF"/>
                </a:highlight>
              </a:rPr>
              <a:t>查名单</a:t>
            </a:r>
            <a:endParaRPr lang="zh-CN" altLang="en-US" sz="1400">
              <a:highlight>
                <a:srgbClr val="00FFFF"/>
              </a:highlight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571615" y="5162550"/>
            <a:ext cx="3166110" cy="1814830"/>
          </a:xfrm>
          <a:prstGeom prst="rect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圈人改为异步圈人，提升圈人效率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实时决策与批量决策分离；批量决策过程改为批量执行；支持决策任务公平调度；等等。</a:t>
            </a:r>
            <a:endParaRPr lang="zh-CN" altLang="en-US" sz="1400"/>
          </a:p>
          <a:p>
            <a:r>
              <a:rPr lang="en-US" altLang="zh-CN" sz="1400"/>
              <a:t>3.</a:t>
            </a:r>
            <a:r>
              <a:rPr lang="zh-CN" altLang="en-US" sz="1400"/>
              <a:t>查标签扩容，标签缓存等等；</a:t>
            </a:r>
            <a:endParaRPr lang="en-US" altLang="zh-CN" sz="1400"/>
          </a:p>
          <a:p>
            <a:r>
              <a:rPr lang="en-US" altLang="zh-CN" sz="1400"/>
              <a:t>5. </a:t>
            </a:r>
            <a:r>
              <a:rPr lang="zh-CN" altLang="en-US" sz="1400"/>
              <a:t>指令执行，文件切分策略支持大小批量推送；</a:t>
            </a:r>
            <a:r>
              <a:rPr lang="zh-CN" altLang="en-US" sz="1400">
                <a:sym typeface="+mn-ea"/>
              </a:rPr>
              <a:t>支持决策任务公平调度；引入控频缓存；等等。</a:t>
            </a:r>
            <a:endParaRPr lang="en-US" altLang="zh-CN" sz="1400"/>
          </a:p>
        </p:txBody>
      </p:sp>
      <p:sp>
        <p:nvSpPr>
          <p:cNvPr id="119" name="文本框 118"/>
          <p:cNvSpPr txBox="1"/>
          <p:nvPr>
            <p:custDataLst>
              <p:tags r:id="rId52"/>
            </p:custDataLst>
          </p:nvPr>
        </p:nvSpPr>
        <p:spPr>
          <a:xfrm>
            <a:off x="9818370" y="5162550"/>
            <a:ext cx="2373630" cy="1168400"/>
          </a:xfrm>
          <a:prstGeom prst="rect">
            <a:avLst/>
          </a:prstGeom>
          <a:solidFill>
            <a:srgbClr val="00B0F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1400"/>
              <a:t> </a:t>
            </a:r>
            <a:r>
              <a:rPr lang="en-US" altLang="zh-CN" sz="1400"/>
              <a:t>3.impala</a:t>
            </a:r>
            <a:r>
              <a:rPr lang="zh-CN" altLang="en-US" sz="1400"/>
              <a:t>连接问题</a:t>
            </a:r>
            <a:r>
              <a:rPr lang="en-US" altLang="zh-CN" sz="1400"/>
              <a:t>, </a:t>
            </a:r>
            <a:r>
              <a:rPr lang="zh-CN" altLang="en-US" sz="1400"/>
              <a:t>再尝试优化方案；更准确及时的预警预案机制；</a:t>
            </a:r>
            <a:endParaRPr lang="en-US" altLang="zh-CN" sz="1400"/>
          </a:p>
          <a:p>
            <a:pPr indent="0">
              <a:buFont typeface="Arial" panose="020B0604020202020204" pitchFamily="34" charset="0"/>
              <a:buNone/>
            </a:pPr>
            <a:endParaRPr lang="zh-CN" altLang="en-US" sz="1400"/>
          </a:p>
          <a:p>
            <a:endParaRPr lang="en-US" altLang="zh-CN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273705"/>
            <a:ext cx="899143" cy="4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6308" y="273705"/>
            <a:ext cx="9435913" cy="4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改进计划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44.pic.jpg"/>
          <p:cNvPicPr>
            <a:picLocks noChangeAspect="1"/>
          </p:cNvPicPr>
          <p:nvPr userDrawn="1"/>
        </p:nvPicPr>
        <p:blipFill rotWithShape="1">
          <a:blip r:embed="rId1"/>
          <a:srcRect r="43815"/>
          <a:stretch>
            <a:fillRect/>
          </a:stretch>
        </p:blipFill>
        <p:spPr>
          <a:xfrm>
            <a:off x="10221595" y="-10160"/>
            <a:ext cx="1779270" cy="66738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422910" y="830580"/>
          <a:ext cx="10586720" cy="58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840"/>
                <a:gridCol w="5008245"/>
                <a:gridCol w="1290955"/>
                <a:gridCol w="2646680"/>
              </a:tblGrid>
              <a:tr h="3556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方向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事项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负责人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计划时间</a:t>
                      </a:r>
                      <a:endParaRPr lang="zh-CN" altLang="en-US" sz="1400"/>
                    </a:p>
                  </a:txBody>
                  <a:tcPr/>
                </a:tc>
              </a:tr>
              <a:tr h="3562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系统性能优化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实时决策与批量决策分离；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2024.1.31</a:t>
                      </a:r>
                      <a:endParaRPr lang="en-US" altLang="zh-CN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批量决策过程改为批量执行；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2024.1.31</a:t>
                      </a: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sym typeface="+mn-ea"/>
                        </a:rPr>
                        <a:t>用户经营平台单名单暂停取消功能及其他运营功能建设</a:t>
                      </a:r>
                      <a:endParaRPr lang="zh-CN" altLang="en-US" sz="140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2023.12.30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决策支持任务公平调度；</a:t>
                      </a:r>
                      <a:endParaRPr lang="zh-CN" altLang="en-US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指令支持任务公平调度；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2024.1.31</a:t>
                      </a:r>
                      <a:endParaRPr lang="zh-CN" altLang="en-US" sz="1400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5. </a:t>
                      </a:r>
                      <a:r>
                        <a:rPr lang="zh-CN" altLang="en-US" sz="1400">
                          <a:sym typeface="+mn-ea"/>
                        </a:rPr>
                        <a:t>指令执行，文件切分策略支持大小批量推送；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2024.1.31</a:t>
                      </a:r>
                      <a:endParaRPr lang="zh-CN" altLang="en-US" sz="1400"/>
                    </a:p>
                  </a:txBody>
                  <a:tcPr/>
                </a:tc>
              </a:tr>
              <a:tr h="39497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3.</a:t>
                      </a:r>
                      <a:r>
                        <a:rPr lang="zh-CN" altLang="en-US" sz="1400">
                          <a:sym typeface="+mn-ea"/>
                        </a:rPr>
                        <a:t>查标签扩容，标签缓存等等；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2023.12.30</a:t>
                      </a:r>
                      <a:endParaRPr lang="zh-CN" altLang="en-US" sz="1400"/>
                    </a:p>
                  </a:txBody>
                  <a:tcPr/>
                </a:tc>
              </a:tr>
              <a:tr h="30607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指令引入控频缓存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2024.1.31</a:t>
                      </a:r>
                      <a:endParaRPr lang="zh-CN" altLang="en-US" sz="1400"/>
                    </a:p>
                  </a:txBody>
                  <a:tcPr/>
                </a:tc>
              </a:tr>
              <a:tr h="35623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异步圈人优化，压测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2023.12.12</a:t>
                      </a:r>
                      <a:endParaRPr lang="zh-CN" altLang="en-US" sz="1400"/>
                    </a:p>
                  </a:txBody>
                  <a:tcPr/>
                </a:tc>
              </a:tr>
              <a:tr h="3556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impala</a:t>
                      </a:r>
                      <a:r>
                        <a:rPr lang="zh-CN" altLang="en-US" sz="1400">
                          <a:sym typeface="+mn-ea"/>
                        </a:rPr>
                        <a:t>连接问题</a:t>
                      </a:r>
                      <a:r>
                        <a:rPr lang="en-US" altLang="zh-CN" sz="1400">
                          <a:sym typeface="+mn-ea"/>
                        </a:rPr>
                        <a:t>, </a:t>
                      </a:r>
                      <a:r>
                        <a:rPr lang="zh-CN" altLang="en-US" sz="1400">
                          <a:sym typeface="+mn-ea"/>
                        </a:rPr>
                        <a:t>尝试优化方案；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2023.12.12</a:t>
                      </a:r>
                      <a:endParaRPr lang="en-US" altLang="zh-CN" sz="1400"/>
                    </a:p>
                  </a:txBody>
                  <a:tcPr/>
                </a:tc>
              </a:tr>
              <a:tr h="3562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监控预警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用户经营平台增加名单级监控</a:t>
                      </a:r>
                      <a:endParaRPr lang="zh-CN" altLang="en-US" sz="140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2023.12.12</a:t>
                      </a:r>
                      <a:endParaRPr lang="zh-CN" altLang="en-US" sz="1400"/>
                    </a:p>
                  </a:txBody>
                  <a:tcPr/>
                </a:tc>
              </a:tr>
              <a:tr h="35623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营销平台增加抽取规则级别监控</a:t>
                      </a:r>
                      <a:endParaRPr lang="zh-CN" altLang="en-US" sz="140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2023.12.12</a:t>
                      </a:r>
                      <a:endParaRPr lang="zh-CN" altLang="en-US" sz="1400"/>
                    </a:p>
                  </a:txBody>
                  <a:tcPr/>
                </a:tc>
              </a:tr>
              <a:tr h="3556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值班预案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短期（到</a:t>
                      </a:r>
                      <a:r>
                        <a:rPr lang="en-US" altLang="zh-CN" sz="1400"/>
                        <a:t>12.12</a:t>
                      </a:r>
                      <a:r>
                        <a:rPr lang="zh-CN" altLang="en-US" sz="1400"/>
                        <a:t>）人工值班机制完善，名单级跟进作业情况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2023.12.12</a:t>
                      </a:r>
                      <a:endParaRPr lang="en-US" altLang="zh-CN" sz="1400"/>
                    </a:p>
                  </a:txBody>
                  <a:tcPr/>
                </a:tc>
              </a:tr>
              <a:tr h="3556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业务问题排查预案完善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2023.11.30</a:t>
                      </a:r>
                      <a:endParaRPr lang="en-US" altLang="zh-CN" sz="1400"/>
                    </a:p>
                  </a:txBody>
                  <a:tcPr/>
                </a:tc>
              </a:tr>
              <a:tr h="3556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全链路名单级自动监控预案方案制定实施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韩文鹏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2024.1.31</a:t>
                      </a:r>
                      <a:endParaRPr lang="en-US" altLang="zh-CN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75030" y="61976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用户经营平台（消金营销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028065" y="1046480"/>
          <a:ext cx="8531860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3120"/>
                <a:gridCol w="1573530"/>
                <a:gridCol w="145224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系统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urm-core-server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券</a:t>
                      </a:r>
                      <a:r>
                        <a:rPr lang="zh-CN" altLang="en-US"/>
                        <a:t>权益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urm-manager-</a:t>
                      </a:r>
                      <a:r>
                        <a:rPr lang="en-US" altLang="zh-CN"/>
                        <a:t>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urm-</a:t>
                      </a:r>
                      <a:r>
                        <a:rPr lang="en-US" altLang="zh-CN"/>
                        <a:t>manager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urm-</a:t>
                      </a:r>
                      <a:r>
                        <a:rPr lang="en-US" altLang="zh-CN"/>
                        <a:t>schedule-server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marketcenter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营销中心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marketcenter-rule-server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营销决策引擎</a:t>
                      </a:r>
                      <a:r>
                        <a:rPr lang="en-US" altLang="zh-CN"/>
                        <a:t>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marketcenter-instructer-server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营销平台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指令</a:t>
                      </a:r>
                      <a:r>
                        <a:rPr lang="zh-CN" altLang="en-US"/>
                        <a:t>中心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market-postback-server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营销数据</a:t>
                      </a:r>
                      <a:r>
                        <a:rPr lang="zh-CN" altLang="en-US"/>
                        <a:t>回传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marketcenter-manager-server-gdz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够多智营销</a:t>
                      </a: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marketcenter-manager-server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营销</a:t>
                      </a: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market-telemarket-server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电销工作</a:t>
                      </a:r>
                      <a:r>
                        <a:rPr lang="zh-CN" altLang="en-US"/>
                        <a:t>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01135" y="6005195"/>
            <a:ext cx="4114800" cy="365125"/>
          </a:xfrm>
        </p:spPr>
        <p:txBody>
          <a:bodyPr/>
          <a:p>
            <a:r>
              <a:rPr lang="zh-CN" altLang="en-US"/>
              <a:t>内部资料，禁止外传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7565" y="26860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impala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990600" y="695325"/>
          <a:ext cx="853186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工具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etl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starrock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53135" y="277114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老营销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62990" y="3313430"/>
          <a:ext cx="853186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系统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1062990" y="5591175"/>
          <a:ext cx="853186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系统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080135" y="525145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qa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TABLE_ENDDRAG_ORIGIN_RECT" val="833*284"/>
  <p:tag name="TABLE_ENDDRAG_RECT" val="33*83*833*284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COMMONDATA" val="eyJoZGlkIjoiMDc1MTNmNmNiNzhmM2ZjM2Q5ZWZmYmFhNzYzNWEwMzAifQ=="/>
  <p:tag name="KSO_WPP_MARK_KEY" val="2c528615-4c82-4213-998c-64cadc5de849"/>
  <p:tag name="commondata" val="eyJoZGlkIjoiZDA0MDQ2MTE4YjQyNGU3Y2U0ZjQyMTE1ZTdiMTMxMGY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2617</Words>
  <Application>WPS 演示</Application>
  <PresentationFormat>宽屏</PresentationFormat>
  <Paragraphs>473</Paragraphs>
  <Slides>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YH-L14-116</dc:creator>
  <cp:lastModifiedBy>haiyan</cp:lastModifiedBy>
  <cp:revision>1935</cp:revision>
  <dcterms:created xsi:type="dcterms:W3CDTF">2019-06-19T02:08:00Z</dcterms:created>
  <dcterms:modified xsi:type="dcterms:W3CDTF">2023-12-01T02:12:29Z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E6341E23BE144EEDB95FB63EAF99362A</vt:lpwstr>
  </property>
</Properties>
</file>